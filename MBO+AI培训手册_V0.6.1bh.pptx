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7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8" r:id="rId10"/>
    <p:sldId id="288" r:id="rId11"/>
    <p:sldId id="265" r:id="rId12"/>
    <p:sldId id="279" r:id="rId13"/>
    <p:sldId id="266" r:id="rId14"/>
    <p:sldId id="267" r:id="rId15"/>
    <p:sldId id="268" r:id="rId16"/>
    <p:sldId id="280" r:id="rId17"/>
    <p:sldId id="269" r:id="rId18"/>
    <p:sldId id="270" r:id="rId19"/>
    <p:sldId id="281" r:id="rId20"/>
    <p:sldId id="282" r:id="rId21"/>
    <p:sldId id="276" r:id="rId22"/>
    <p:sldId id="283" r:id="rId23"/>
    <p:sldId id="290" r:id="rId36"/>
    <p:sldId id="284" r:id="rId24"/>
    <p:sldId id="272" r:id="rId25"/>
    <p:sldId id="285" r:id="rId26"/>
    <p:sldId id="274" r:id="rId27"/>
    <p:sldId id="286" r:id="rId28"/>
    <p:sldId id="289" r:id="rId29"/>
    <p:sldId id="287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0F6897"/>
    <a:srgbClr val="1380B9"/>
    <a:srgbClr val="0E5F8B"/>
    <a:srgbClr val="01AFB9"/>
    <a:srgbClr val="F07268"/>
    <a:srgbClr val="FCD9B7"/>
    <a:srgbClr val="FFF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153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200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3213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B2F51-24C2-9B90-D0B7-2BBA9AB5E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988AC-C766-0958-A6F2-A3B6EED0E5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E2FCA6-1DEF-9130-7DA6-73A9DD78E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07E9F-F278-026E-A026-16212919A6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4738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7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7A3404F-E4D4-33A1-6D89-B10CA779D1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32766"/>
            <a:ext cx="9144000" cy="810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4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E385F41-CA4F-9C02-D491-73637B5A4DF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6897"/>
          </a:solidFill>
          <a:ln>
            <a:solidFill>
              <a:srgbClr val="13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Shape 0"/>
          <p:cNvSpPr/>
          <p:nvPr/>
        </p:nvSpPr>
        <p:spPr>
          <a:xfrm>
            <a:off x="502920" y="1076960"/>
            <a:ext cx="86360" cy="1889244"/>
          </a:xfrm>
          <a:prstGeom prst="rect">
            <a:avLst/>
          </a:prstGeom>
          <a:solidFill>
            <a:srgbClr val="FFCF6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955040"/>
            <a:ext cx="5486400" cy="120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ts val="4200"/>
              </a:lnSpc>
              <a:defRPr/>
            </a:pPr>
            <a:r>
              <a:rPr lang="zh-CN" altLang="zh-CN" sz="3600" b="1" dirty="0">
                <a:solidFill>
                  <a:srgbClr val="FFFFFF"/>
                </a:solidFill>
                <a:latin typeface="Georgia" pitchFamily="34" charset="0"/>
              </a:rPr>
              <a:t>HWM-AI 目标与效率驱动系统</a:t>
            </a:r>
            <a:r>
              <a:rPr lang="zh-CN" altLang="en-US" sz="3600" b="1" dirty="0">
                <a:solidFill>
                  <a:srgbClr val="FFFFFF"/>
                </a:solidFill>
                <a:latin typeface="Georgia" pitchFamily="34" charset="0"/>
              </a:rPr>
              <a:t>使用指南</a:t>
            </a:r>
            <a:endParaRPr lang="en-US" sz="3600" b="1" dirty="0">
              <a:solidFill>
                <a:srgbClr val="FFFFFF"/>
              </a:solidFill>
              <a:latin typeface="Georgia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94080" y="25598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CF6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基础模块 + MBO 目标管理模块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4389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V0.6.1bh · 2026年7月12日 · 南京幸福工场医疗设备有限公司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9D9D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A57848D-3139-7949-3E63-12A71F4AE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0" y="398780"/>
            <a:ext cx="1534160" cy="28675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9F8BBE7-989B-B7AD-B891-D1A824F8BB0D}"/>
              </a:ext>
            </a:extLst>
          </p:cNvPr>
          <p:cNvSpPr txBox="1"/>
          <p:nvPr/>
        </p:nvSpPr>
        <p:spPr>
          <a:xfrm>
            <a:off x="822960" y="2200632"/>
            <a:ext cx="593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D9D9D9"/>
                </a:solidFill>
              </a:rPr>
              <a:t>HWM-AI Goal &amp; Efficiency-Driven System User Guide</a:t>
            </a:r>
            <a:endParaRPr lang="zh-CN" altLang="en-US" dirty="0">
              <a:solidFill>
                <a:srgbClr val="D9D9D9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DFF27C5-88FD-F4D6-3346-B0E311859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9866" y="3149087"/>
            <a:ext cx="2607787" cy="1422913"/>
          </a:xfrm>
          <a:prstGeom prst="roundRect">
            <a:avLst>
              <a:gd name="adj" fmla="val 2483"/>
            </a:avLst>
          </a:prstGeom>
          <a:solidFill>
            <a:srgbClr val="FFFFFF">
              <a:shade val="85000"/>
            </a:srgbClr>
          </a:solidFill>
          <a:ln>
            <a:solidFill>
              <a:schemeClr val="bg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12520"/>
            <a:ext cx="502920" cy="502920"/>
          </a:xfrm>
          <a:prstGeom prst="rect">
            <a:avLst/>
          </a:prstGeom>
          <a:solidFill>
            <a:srgbClr val="1380B9"/>
          </a:solidFill>
          <a:ln/>
        </p:spPr>
        <p:txBody>
          <a:bodyPr/>
          <a:lstStyle/>
          <a:p>
            <a:endParaRPr lang="zh-CN" altLang="en-US">
              <a:solidFill>
                <a:srgbClr val="FFFCDD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112520"/>
            <a:ext cx="502920" cy="502920"/>
          </a:xfrm>
          <a:prstGeom prst="rect">
            <a:avLst/>
          </a:prstGeom>
          <a:solidFill>
            <a:srgbClr val="1380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C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>
              <a:solidFill>
                <a:srgbClr val="FFFCDD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1115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系统概述</a:t>
            </a:r>
            <a:endParaRPr lang="en-US" sz="1500" dirty="0">
              <a:solidFill>
                <a:srgbClr val="1380B9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1389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开发背景、技术架构与访问方式</a:t>
            </a:r>
            <a:endParaRPr lang="en-US" sz="1100" dirty="0">
              <a:solidFill>
                <a:srgbClr val="1380B9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734312"/>
            <a:ext cx="502920" cy="502920"/>
          </a:xfrm>
          <a:prstGeom prst="rect">
            <a:avLst/>
          </a:prstGeom>
          <a:solidFill>
            <a:srgbClr val="1380B9"/>
          </a:solidFill>
          <a:ln/>
        </p:spPr>
        <p:txBody>
          <a:bodyPr/>
          <a:lstStyle/>
          <a:p>
            <a:endParaRPr lang="zh-CN" altLang="en-US">
              <a:solidFill>
                <a:srgbClr val="FFFCDD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734312"/>
            <a:ext cx="502920" cy="502920"/>
          </a:xfrm>
          <a:prstGeom prst="rect">
            <a:avLst/>
          </a:prstGeom>
          <a:solidFill>
            <a:srgbClr val="1380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C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>
              <a:solidFill>
                <a:srgbClr val="FFFCDD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18872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登录与首页门户</a:t>
            </a:r>
            <a:endParaRPr lang="en-US" sz="1500" dirty="0">
              <a:solidFill>
                <a:srgbClr val="1380B9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188720" y="2011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用户登录 · 门户导航 · 功能模块总览</a:t>
            </a:r>
            <a:endParaRPr lang="en-US" sz="1100" dirty="0">
              <a:solidFill>
                <a:srgbClr val="1380B9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356104"/>
            <a:ext cx="502920" cy="502920"/>
          </a:xfrm>
          <a:prstGeom prst="rect">
            <a:avLst/>
          </a:prstGeom>
          <a:solidFill>
            <a:srgbClr val="1380B9"/>
          </a:solidFill>
          <a:ln/>
        </p:spPr>
        <p:txBody>
          <a:bodyPr/>
          <a:lstStyle/>
          <a:p>
            <a:endParaRPr lang="zh-CN" altLang="en-US">
              <a:solidFill>
                <a:srgbClr val="FFFCDD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2356104"/>
            <a:ext cx="502920" cy="502920"/>
          </a:xfrm>
          <a:prstGeom prst="rect">
            <a:avLst/>
          </a:prstGeom>
          <a:solidFill>
            <a:srgbClr val="1380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C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>
              <a:solidFill>
                <a:srgbClr val="FFFCDD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8872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 HR 模块</a:t>
            </a:r>
            <a:endParaRPr lang="en-US" sz="1500" dirty="0">
              <a:solidFill>
                <a:srgbClr val="1380B9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88720" y="2633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员工档案管理 · 数据查询与导出</a:t>
            </a:r>
            <a:endParaRPr lang="en-US" sz="1100" dirty="0">
              <a:solidFill>
                <a:srgbClr val="1380B9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977896"/>
            <a:ext cx="502920" cy="502920"/>
          </a:xfrm>
          <a:prstGeom prst="rect">
            <a:avLst/>
          </a:prstGeom>
          <a:solidFill>
            <a:srgbClr val="1380B9"/>
          </a:solidFill>
          <a:ln/>
        </p:spPr>
        <p:txBody>
          <a:bodyPr/>
          <a:lstStyle/>
          <a:p>
            <a:endParaRPr lang="zh-CN" altLang="en-US">
              <a:solidFill>
                <a:srgbClr val="FFFCDD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2977896"/>
            <a:ext cx="502920" cy="502920"/>
          </a:xfrm>
          <a:prstGeom prst="rect">
            <a:avLst/>
          </a:prstGeom>
          <a:solidFill>
            <a:srgbClr val="1380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C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>
              <a:solidFill>
                <a:srgbClr val="FFFCDD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88720" y="2980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MBO 目标管理</a:t>
            </a:r>
            <a:endParaRPr lang="en-US" sz="1500" dirty="0">
              <a:solidFill>
                <a:srgbClr val="1380B9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88720" y="325526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周计划创建 · 优先级 · 状态跟踪</a:t>
            </a:r>
            <a:endParaRPr lang="en-US" sz="1100" dirty="0">
              <a:solidFill>
                <a:srgbClr val="1380B9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3599688"/>
            <a:ext cx="502920" cy="502920"/>
          </a:xfrm>
          <a:prstGeom prst="rect">
            <a:avLst/>
          </a:prstGeom>
          <a:solidFill>
            <a:srgbClr val="1380B9"/>
          </a:solidFill>
          <a:ln/>
        </p:spPr>
        <p:txBody>
          <a:bodyPr/>
          <a:lstStyle/>
          <a:p>
            <a:endParaRPr lang="zh-CN" altLang="en-US">
              <a:solidFill>
                <a:srgbClr val="FFFCDD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3599688"/>
            <a:ext cx="502920" cy="502920"/>
          </a:xfrm>
          <a:prstGeom prst="rect">
            <a:avLst/>
          </a:prstGeom>
          <a:solidFill>
            <a:srgbClr val="1380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C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>
              <a:solidFill>
                <a:srgbClr val="FFFCDD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88720" y="36027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MBO 协同与评价</a:t>
            </a:r>
            <a:endParaRPr lang="en-US" sz="1500" dirty="0">
              <a:solidFill>
                <a:srgbClr val="1380B9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88720" y="38770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协同任务 · 上级评价 · 任务积分</a:t>
            </a:r>
            <a:endParaRPr lang="en-US" sz="1100" dirty="0">
              <a:solidFill>
                <a:srgbClr val="1380B9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4221480"/>
            <a:ext cx="502920" cy="502920"/>
          </a:xfrm>
          <a:prstGeom prst="rect">
            <a:avLst/>
          </a:prstGeom>
          <a:solidFill>
            <a:srgbClr val="1380B9"/>
          </a:solidFill>
          <a:ln/>
        </p:spPr>
        <p:txBody>
          <a:bodyPr/>
          <a:lstStyle/>
          <a:p>
            <a:endParaRPr lang="zh-CN" altLang="en-US">
              <a:solidFill>
                <a:srgbClr val="FFFCDD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4221480"/>
            <a:ext cx="502920" cy="502920"/>
          </a:xfrm>
          <a:prstGeom prst="rect">
            <a:avLst/>
          </a:prstGeom>
          <a:solidFill>
            <a:srgbClr val="1380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C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>
              <a:solidFill>
                <a:srgbClr val="FFFCDD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88720" y="4224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操作速查</a:t>
            </a:r>
            <a:endParaRPr lang="en-US" sz="1500" dirty="0">
              <a:solidFill>
                <a:srgbClr val="1380B9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88720" y="44988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快捷操作 · 常见问题</a:t>
            </a:r>
            <a:endParaRPr lang="en-US" sz="1100" dirty="0">
              <a:solidFill>
                <a:srgbClr val="1380B9"/>
              </a:solidFill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8B7C8E7F-D20A-3FCF-0979-1887E8753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47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系统概述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526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380B9"/>
                </a:solidFill>
              </a:rPr>
              <a:t>HWM-HR 信息管理系统</a:t>
            </a:r>
            <a:endParaRPr lang="en-US" sz="1800" dirty="0">
              <a:solidFill>
                <a:srgbClr val="1380B9"/>
              </a:solidFill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为幸福工场医疗设备有限公司定制的综合人力资源管理平台，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整合员工档案管理与目标管理体系，支持多角色协同办公。</a:t>
            </a:r>
            <a:endParaRPr lang="en-US" sz="1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marL="0" indent="0">
              <a:buNone/>
            </a:pPr>
            <a:endParaRPr lang="en-US" sz="1400" b="1" dirty="0">
              <a:solidFill>
                <a:srgbClr val="0F7BE1"/>
              </a:solidFill>
            </a:endParaRPr>
          </a:p>
          <a:p>
            <a:pPr marL="0" indent="0">
              <a:buNone/>
            </a:pPr>
            <a:endParaRPr lang="en-US" sz="1400" b="1" dirty="0">
              <a:solidFill>
                <a:srgbClr val="0F7BE1"/>
              </a:solidFill>
            </a:endParaRPr>
          </a:p>
          <a:p>
            <a:pPr marL="0" indent="0">
              <a:buNone/>
            </a:pPr>
            <a:r>
              <a:rPr lang="en-US" sz="1400" b="1" dirty="0" err="1">
                <a:solidFill>
                  <a:srgbClr val="0F7BE1"/>
                </a:solidFill>
              </a:rPr>
              <a:t>技术架构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· 前端：SPA 单页应用，响应式设计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· 后端：Supabase 云数据库（实时同步）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· 部署：GitHub Pages（HTTPS 加密）</a:t>
            </a:r>
            <a:endParaRPr lang="en-US" sz="1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marL="0" indent="0">
              <a:buNone/>
            </a:pPr>
            <a:endParaRPr lang="en-US" sz="1400" b="1" dirty="0">
              <a:solidFill>
                <a:srgbClr val="0F7BE1"/>
              </a:solidFill>
            </a:endParaRPr>
          </a:p>
          <a:p>
            <a:pPr marL="0" indent="0">
              <a:buNone/>
            </a:pPr>
            <a:endParaRPr lang="en-US" sz="1400" b="1" dirty="0">
              <a:solidFill>
                <a:srgbClr val="0F7BE1"/>
              </a:solidFill>
            </a:endParaRPr>
          </a:p>
          <a:p>
            <a:pPr marL="0" indent="0">
              <a:buNone/>
            </a:pPr>
            <a:r>
              <a:rPr lang="en-US" sz="1400" b="1" dirty="0" err="1">
                <a:solidFill>
                  <a:srgbClr val="0F7BE1"/>
                </a:solidFill>
              </a:rPr>
              <a:t>访问地址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0F7BE1"/>
                </a:solidFill>
              </a:rPr>
              <a:t>https://hwm.tiger-buddy.com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25780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76072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安全登录</a:t>
            </a:r>
            <a:endParaRPr lang="en-US" sz="1300" dirty="0">
              <a:solidFill>
                <a:srgbClr val="1380B9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76072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用户名+密码验证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三级查找机制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20640" y="201168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25780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6072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多角色</a:t>
            </a:r>
            <a:endParaRPr lang="en-US" sz="1300" dirty="0">
              <a:solidFill>
                <a:srgbClr val="1380B9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760720" y="2377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HR管理员 / 部门负责人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普通员工 / 数据管理员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0" y="301752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25780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76072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数据可视化</a:t>
            </a:r>
            <a:endParaRPr lang="en-US" sz="1300" dirty="0">
              <a:solidFill>
                <a:srgbClr val="1380B9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760720" y="3383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仪表盘统计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花名册查询与导出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20640" y="402336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25780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76072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实时同步</a:t>
            </a:r>
            <a:endParaRPr lang="en-US" sz="1300" dirty="0">
              <a:solidFill>
                <a:srgbClr val="1380B9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760720" y="4389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Supabase 云端存储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跨设备数据一致</a:t>
            </a:r>
            <a:endParaRPr lang="en-US" sz="10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2B28039D-EC20-CAD1-9C09-4AEA3ADFD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1E71957-35F0-5702-6615-3BD28C67B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32766"/>
            <a:ext cx="9144000" cy="810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登录页面</a:t>
            </a:r>
            <a:endParaRPr 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5CC630A-F1DE-FE1C-C259-287466CA4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C462DC2-4EAE-5CE7-E7BA-694164D39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7671" y="1317523"/>
            <a:ext cx="5732489" cy="3123621"/>
          </a:xfrm>
          <a:prstGeom prst="roundRect">
            <a:avLst>
              <a:gd name="adj" fmla="val 1276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 2"/>
          <p:cNvSpPr/>
          <p:nvPr/>
        </p:nvSpPr>
        <p:spPr>
          <a:xfrm>
            <a:off x="137369" y="1317523"/>
            <a:ext cx="2812308" cy="3123621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18415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TSong" pitchFamily="34" charset="-120"/>
              </a:rPr>
              <a:t>登录流程</a:t>
            </a:r>
            <a:endParaRPr lang="en-US" sz="1300" b="1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  <a:buNone/>
              <a:tabLst>
                <a:tab pos="2392363" algn="l"/>
              </a:tabLst>
            </a:pPr>
            <a:r>
              <a:rPr lang="en-US" sz="6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 </a:t>
            </a:r>
            <a:endParaRPr lang="en-US" sz="1300" dirty="0">
              <a:solidFill>
                <a:srgbClr val="1380B9"/>
              </a:solidFill>
            </a:endParaRPr>
          </a:p>
          <a:p>
            <a:pPr marL="184150">
              <a:spcAft>
                <a:spcPts val="200"/>
              </a:spcAft>
              <a:buNone/>
              <a:tabLst>
                <a:tab pos="2392363" algn="l"/>
              </a:tabLst>
            </a:pPr>
            <a:r>
              <a:rPr lang="en-US" sz="12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1. 访问系统 URL，进入登录页面</a:t>
            </a:r>
            <a:endParaRPr lang="en-US" sz="1300" dirty="0">
              <a:solidFill>
                <a:srgbClr val="1380B9"/>
              </a:solidFill>
            </a:endParaRPr>
          </a:p>
          <a:p>
            <a:pPr marL="184150">
              <a:spcAft>
                <a:spcPts val="200"/>
              </a:spcAft>
              <a:buNone/>
              <a:tabLst>
                <a:tab pos="2392363" algn="l"/>
              </a:tabLst>
            </a:pPr>
            <a:r>
              <a:rPr lang="en-US" sz="12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2. 输入用户名和密码</a:t>
            </a:r>
            <a:endParaRPr lang="en-US" sz="1300" dirty="0">
              <a:solidFill>
                <a:srgbClr val="1380B9"/>
              </a:solidFill>
            </a:endParaRPr>
          </a:p>
          <a:p>
            <a:pPr marL="184150">
              <a:spcAft>
                <a:spcPts val="200"/>
              </a:spcAft>
              <a:buNone/>
              <a:tabLst>
                <a:tab pos="2392363" algn="l"/>
              </a:tabLst>
            </a:pPr>
            <a:r>
              <a:rPr lang="en-US" sz="12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3. 点击「验证进入」按钮</a:t>
            </a:r>
            <a:endParaRPr lang="en-US" sz="1300" dirty="0">
              <a:solidFill>
                <a:srgbClr val="1380B9"/>
              </a:solidFill>
            </a:endParaRPr>
          </a:p>
          <a:p>
            <a:pPr marL="184150">
              <a:spcAft>
                <a:spcPts val="200"/>
              </a:spcAft>
              <a:buNone/>
              <a:tabLst>
                <a:tab pos="2392363" algn="l"/>
              </a:tabLst>
            </a:pPr>
            <a:r>
              <a:rPr lang="en-US" sz="800" b="1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TSong" pitchFamily="34" charset="-120"/>
              </a:rPr>
              <a:t> </a:t>
            </a:r>
            <a:endParaRPr lang="en-US" sz="1300" b="1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  <a:buNone/>
              <a:tabLst>
                <a:tab pos="2392363" algn="l"/>
              </a:tabLst>
            </a:pPr>
            <a:r>
              <a:rPr lang="en-US" sz="1400" b="1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TSong" pitchFamily="34" charset="-120"/>
              </a:rPr>
              <a:t>安全机制</a:t>
            </a:r>
            <a:endParaRPr lang="en-US" sz="1300" b="1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  <a:buNone/>
              <a:tabLst>
                <a:tab pos="2392363" algn="l"/>
              </a:tabLst>
            </a:pPr>
            <a:r>
              <a:rPr lang="en-US" sz="6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 </a:t>
            </a:r>
            <a:endParaRPr lang="en-US" sz="1300" dirty="0">
              <a:solidFill>
                <a:srgbClr val="1380B9"/>
              </a:solidFill>
            </a:endParaRPr>
          </a:p>
          <a:p>
            <a:pPr marL="184150">
              <a:spcAft>
                <a:spcPts val="200"/>
              </a:spcAft>
              <a:buNone/>
              <a:tabLst>
                <a:tab pos="2392363" algn="l"/>
              </a:tabLst>
            </a:pPr>
            <a:r>
              <a:rPr lang="en-US" sz="12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· 三级查找：本地缓存 → 默认用户 → 云端查询</a:t>
            </a:r>
            <a:endParaRPr lang="en-US" sz="1300" dirty="0">
              <a:solidFill>
                <a:srgbClr val="1380B9"/>
              </a:solidFill>
            </a:endParaRPr>
          </a:p>
          <a:p>
            <a:pPr marL="184150">
              <a:spcAft>
                <a:spcPts val="200"/>
              </a:spcAft>
              <a:buNone/>
              <a:tabLst>
                <a:tab pos="2392363" algn="l"/>
              </a:tabLst>
            </a:pPr>
            <a:r>
              <a:rPr lang="en-US" sz="12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· 毛玻璃登录卡片，清晰现代</a:t>
            </a:r>
            <a:endParaRPr lang="en-US" sz="1300" dirty="0">
              <a:solidFill>
                <a:srgbClr val="1380B9"/>
              </a:solidFill>
            </a:endParaRPr>
          </a:p>
          <a:p>
            <a:pPr marL="184150">
              <a:spcAft>
                <a:spcPts val="200"/>
              </a:spcAft>
              <a:buNone/>
              <a:tabLst>
                <a:tab pos="2392363" algn="l"/>
              </a:tabLst>
            </a:pPr>
            <a:r>
              <a:rPr lang="en-US" sz="12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· 高清背景图，品牌视觉统一</a:t>
            </a:r>
            <a:endParaRPr lang="en-US" sz="1300" dirty="0">
              <a:solidFill>
                <a:srgbClr val="1380B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首页门户</a:t>
            </a:r>
            <a:endParaRPr 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F265A77-2FDC-9910-7389-BF677C656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253673" y="1210243"/>
            <a:ext cx="2518939" cy="3258477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184150">
              <a:spcAft>
                <a:spcPts val="200"/>
              </a:spcAft>
            </a:pPr>
            <a:r>
              <a:rPr lang="en-US" sz="1050" b="1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门户功能</a:t>
            </a:r>
            <a:r>
              <a:rPr lang="zh-CN" altLang="en-US" sz="1050" b="1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sz="1050" b="1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endParaRPr lang="en-US" sz="105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105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en-US" sz="105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欢迎信息</a:t>
            </a:r>
            <a:r>
              <a:rPr lang="en-US" sz="105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+ </a:t>
            </a:r>
            <a:r>
              <a:rPr lang="en-US" sz="105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日期时间显示</a:t>
            </a:r>
            <a:endParaRPr lang="en-US" sz="105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105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en-US" sz="105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功能模块卡片导航</a:t>
            </a:r>
            <a:endParaRPr lang="en-US" sz="105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105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en-US" sz="105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员工数据统计仪表盘</a:t>
            </a:r>
            <a:endParaRPr lang="en-US" sz="105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endParaRPr lang="en-US" sz="105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105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  <a:p>
            <a:pPr marL="184150">
              <a:spcAft>
                <a:spcPts val="200"/>
              </a:spcAft>
            </a:pPr>
            <a:r>
              <a:rPr lang="en-US" sz="1050" b="1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模块入口</a:t>
            </a:r>
            <a:r>
              <a:rPr lang="en-US" altLang="zh-CN" sz="1050" b="1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endParaRPr lang="en-US" sz="1050" b="1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endParaRPr lang="en-US" sz="105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105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en-US" sz="105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员工档案</a:t>
            </a:r>
            <a:r>
              <a:rPr lang="en-US" sz="105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— </a:t>
            </a:r>
            <a:r>
              <a:rPr lang="en-US" sz="105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花名册查询与管理</a:t>
            </a:r>
            <a:endParaRPr lang="en-US" sz="105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105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MBO </a:t>
            </a:r>
            <a:r>
              <a:rPr lang="en-US" sz="105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目标管理</a:t>
            </a:r>
            <a:r>
              <a:rPr lang="en-US" sz="105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— </a:t>
            </a:r>
            <a:r>
              <a:rPr lang="en-US" sz="105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周计划与协同</a:t>
            </a:r>
            <a:endParaRPr lang="en-US" sz="105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105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KPI </a:t>
            </a:r>
            <a:r>
              <a:rPr lang="en-US" sz="105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考核</a:t>
            </a:r>
            <a:r>
              <a:rPr lang="en-US" sz="105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— </a:t>
            </a:r>
            <a:r>
              <a:rPr lang="en-US" sz="105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绩效指标管理</a:t>
            </a:r>
            <a:endParaRPr lang="en-US" sz="105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204EAD0-5CBE-27F0-A13D-4D059F3DB3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2708" y="1210242"/>
            <a:ext cx="5987452" cy="3258477"/>
          </a:xfrm>
          <a:prstGeom prst="roundRect">
            <a:avLst>
              <a:gd name="adj" fmla="val 1276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门户模块一览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员工档案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花名册管理、员工信息查询、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数据导入导出、统计分析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93776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MBO 目标管理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周工作计划、优先级分类、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状态跟踪、协同评价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 考核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关键绩效指标设定、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考核评分、数据分析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93776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制度文件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公司制度文档管理、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在线查阅与版本控制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岗位说明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职位说明书管理、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AI 辅助生成与优化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5204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93776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系统维护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977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用户权限管理、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数据备份与安全配置</a:t>
            </a:r>
            <a:endParaRPr lang="en-US" sz="11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9212F31A-ABB1-0A36-77B0-268B35E28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员工档案管理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28108" y="1208444"/>
            <a:ext cx="2573033" cy="3252391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184150">
              <a:spcAft>
                <a:spcPts val="200"/>
              </a:spcAft>
            </a:pPr>
            <a:r>
              <a:rPr lang="en-US" sz="1050" b="1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核心功能</a:t>
            </a:r>
            <a:endParaRPr lang="en-US" sz="1050" b="1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1050" b="1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花名册查询：多维度筛选与排序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员工详情：个人信息、职位、入职日期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数据导出：Excel / PDF 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双格式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统计看板：性别、学历、工龄分布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1050" b="1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  <a:p>
            <a:pPr marL="184150">
              <a:spcAft>
                <a:spcPts val="200"/>
              </a:spcAft>
            </a:pPr>
            <a:endParaRPr lang="en-US" sz="1050" b="1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1050" b="1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权限控制</a:t>
            </a:r>
            <a:endParaRPr lang="en-US" sz="1050" b="1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1050" b="1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admin：全部功能</a:t>
            </a: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+ 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数据导出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data_admin：查看</a:t>
            </a: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+ 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导出权限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D09C2C5-C513-7873-CD58-A57779D54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E1D8EF2-CE2D-6E71-EE04-8BE7FD1A7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7972" y="1208444"/>
            <a:ext cx="5987920" cy="2981485"/>
          </a:xfrm>
          <a:prstGeom prst="roundRect">
            <a:avLst>
              <a:gd name="adj" fmla="val 1276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员工档案 — 功能详情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筛选查询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按部门、职位、状态等条件筛选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支持关键字全文搜索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93776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数据导入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从 Excel 花名册批量导入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支持更新与新增模式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导出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14pt 标题 + 深蓝表头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9pt 隔行交替底色 + 冻结表头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93776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导出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A4 横向、STHeiti 字体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pyftsubset 子集嵌入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统计仪表盘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总人数、在职率、新增离职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年月维度交叉统计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5204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93776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下钻分析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977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点击统计数字查看详细名单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新增/离职人员可追溯</a:t>
            </a:r>
            <a:endParaRPr lang="en-US" sz="11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28ADE376-52F1-9A67-6F23-AE6848CA6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02870"/>
            <a:ext cx="9144000" cy="5246370"/>
          </a:xfrm>
          <a:prstGeom prst="rect">
            <a:avLst/>
          </a:prstGeom>
          <a:solidFill>
            <a:srgbClr val="0E5F8B"/>
          </a:solidFill>
          <a:ln>
            <a:solidFill>
              <a:srgbClr val="1380B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FFCF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MBO 目标管理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周工作计划 · 优先级 · 启动日期与耗时 · 状态跟踪 · 积分计算 · 协同评价 · AI分析建议</a:t>
            </a:r>
            <a:endParaRPr lang="en-US" sz="1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8E7ACB5-9805-2ECC-9A59-E19D43487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0" y="398780"/>
            <a:ext cx="1534160" cy="2867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FEB5ED0-70BE-E1A7-BBC2-87ADEBEA8B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7"/>
          <a:stretch>
            <a:fillRect/>
          </a:stretch>
        </p:blipFill>
        <p:spPr>
          <a:xfrm>
            <a:off x="2959510" y="912556"/>
            <a:ext cx="5414706" cy="3810000"/>
          </a:xfrm>
          <a:prstGeom prst="roundRect">
            <a:avLst>
              <a:gd name="adj" fmla="val 1276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CC46ED3-F9A4-9A34-192D-0E42612217C7}"/>
              </a:ext>
            </a:extLst>
          </p:cNvPr>
          <p:cNvSpPr txBox="1"/>
          <p:nvPr/>
        </p:nvSpPr>
        <p:spPr>
          <a:xfrm>
            <a:off x="349047" y="191393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MBO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718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MBO — 主界面布局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5518" y="1145970"/>
            <a:ext cx="2086405" cy="33773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184150">
              <a:spcAft>
                <a:spcPts val="200"/>
              </a:spcAft>
            </a:pPr>
            <a:r>
              <a:rPr lang="en-US" sz="900" b="1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界面组成</a:t>
            </a:r>
            <a:endParaRPr lang="en-US" sz="900" b="1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侧栏：年份/月份/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周次选择器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工具栏：AI 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分析、提交锁定、清空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表格区：15列表格（可编辑）</a:t>
            </a: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状态栏：完成/推进/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逾期统计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  <a:p>
            <a:pPr marL="184150">
              <a:spcAft>
                <a:spcPts val="200"/>
              </a:spcAft>
            </a:pP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表格列说明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# · 本周重点工作 · 优先级 · 启动日期 · 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计划完成日期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实际完成日期 · 计划/实际耗时 · 完成状态 · 积分 · 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协同人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问题/困难 · 问题类型 · 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需上级介入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备注说明 · 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上级评价与建议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5D2AD2-2487-87ED-12F7-20CB245D7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E306614-BCD2-20B9-872F-47D6049FB9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6499" y="1145970"/>
            <a:ext cx="6601983" cy="3377340"/>
          </a:xfrm>
          <a:prstGeom prst="roundRect">
            <a:avLst>
              <a:gd name="adj" fmla="val 1276"/>
            </a:avLst>
          </a:prstGeom>
          <a:solidFill>
            <a:srgbClr val="FFFFFF">
              <a:shade val="85000"/>
            </a:srgbClr>
          </a:solidFill>
          <a:ln>
            <a:solidFill>
              <a:srgbClr val="1380B9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MBO 主界面布局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表格列说明（15列）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365760" cy="256032"/>
          </a:xfrm>
          <a:prstGeom prst="rect">
            <a:avLst/>
          </a:prstGeom>
          <a:solidFill>
            <a:srgbClr val="00347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1371600" cy="256032"/>
          </a:xfrm>
          <a:prstGeom prst="rect">
            <a:avLst/>
          </a:prstGeom>
          <a:solidFill>
            <a:srgbClr val="00347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本周重点工作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011680" y="1325880"/>
            <a:ext cx="594360" cy="256032"/>
          </a:xfrm>
          <a:prstGeom prst="rect">
            <a:avLst/>
          </a:prstGeom>
          <a:solidFill>
            <a:srgbClr val="00347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011680" y="13258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优先级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2606040" y="1325880"/>
            <a:ext cx="640080" cy="256032"/>
          </a:xfrm>
          <a:prstGeom prst="rect">
            <a:avLst/>
          </a:prstGeom>
          <a:solidFill>
            <a:srgbClr val="1B6EC4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606040" y="13258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启动日期★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246120" y="1325880"/>
            <a:ext cx="640080" cy="256032"/>
          </a:xfrm>
          <a:prstGeom prst="rect">
            <a:avLst/>
          </a:prstGeom>
          <a:solidFill>
            <a:srgbClr val="00347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246120" y="13258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计划完成日期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3886200" y="1325880"/>
            <a:ext cx="640080" cy="256032"/>
          </a:xfrm>
          <a:prstGeom prst="rect">
            <a:avLst/>
          </a:prstGeom>
          <a:solidFill>
            <a:srgbClr val="00347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886200" y="13258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实际完成日期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4526280" y="1325880"/>
            <a:ext cx="502920" cy="256032"/>
          </a:xfrm>
          <a:prstGeom prst="rect">
            <a:avLst/>
          </a:prstGeom>
          <a:solidFill>
            <a:srgbClr val="1B6EC4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526280" y="13258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耗时★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5029200" y="1325880"/>
            <a:ext cx="548640" cy="256032"/>
          </a:xfrm>
          <a:prstGeom prst="rect">
            <a:avLst/>
          </a:prstGeom>
          <a:solidFill>
            <a:srgbClr val="00347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029200" y="13258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完成状态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5577840" y="1325880"/>
            <a:ext cx="365760" cy="256032"/>
          </a:xfrm>
          <a:prstGeom prst="rect">
            <a:avLst/>
          </a:prstGeom>
          <a:solidFill>
            <a:srgbClr val="00347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577840" y="13258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积分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5943600" y="1325880"/>
            <a:ext cx="502920" cy="256032"/>
          </a:xfrm>
          <a:prstGeom prst="rect">
            <a:avLst/>
          </a:prstGeom>
          <a:solidFill>
            <a:srgbClr val="00347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943600" y="13258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协同人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6446520" y="1325880"/>
            <a:ext cx="640080" cy="256032"/>
          </a:xfrm>
          <a:prstGeom prst="rect">
            <a:avLst/>
          </a:prstGeom>
          <a:solidFill>
            <a:srgbClr val="00347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446520" y="13258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问题/困难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7086600" y="1325880"/>
            <a:ext cx="502920" cy="256032"/>
          </a:xfrm>
          <a:prstGeom prst="rect">
            <a:avLst/>
          </a:prstGeom>
          <a:solidFill>
            <a:srgbClr val="00347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7086600" y="13258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问题类型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7589520" y="1325880"/>
            <a:ext cx="502920" cy="256032"/>
          </a:xfrm>
          <a:prstGeom prst="rect">
            <a:avLst/>
          </a:prstGeom>
          <a:solidFill>
            <a:srgbClr val="00347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7589520" y="13258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需上级介入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8092440" y="1325880"/>
            <a:ext cx="502920" cy="256032"/>
          </a:xfrm>
          <a:prstGeom prst="rect">
            <a:avLst/>
          </a:prstGeom>
          <a:solidFill>
            <a:srgbClr val="00347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092440" y="13258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备注说明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8595360" y="1325880"/>
            <a:ext cx="457200" cy="256032"/>
          </a:xfrm>
          <a:prstGeom prst="rect">
            <a:avLst/>
          </a:prstGeom>
          <a:solidFill>
            <a:srgbClr val="00347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595360" y="13258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上级评价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411480" y="1828800"/>
            <a:ext cx="40233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411480" y="1828800"/>
            <a:ext cx="4023360" cy="36576"/>
          </a:xfrm>
          <a:prstGeom prst="rect">
            <a:avLst/>
          </a:prstGeom>
          <a:solidFill>
            <a:srgbClr val="00347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02920" y="1965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14400" y="1938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启动日期（★新增）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" y="233172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位于「优先级」和「计划完成日期」之间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可编辑日期选择器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用于记录任务实际开始时间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提醒员工和上级了解工作启动安排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1828800"/>
            <a:ext cx="40233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4709160" y="1828800"/>
            <a:ext cx="4023360" cy="36576"/>
          </a:xfrm>
          <a:prstGeom prst="rect">
            <a:avLst/>
          </a:prstGeom>
          <a:solidFill>
            <a:srgbClr val="1B6EC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4800600" y="1965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212080" y="1938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计划/实际耗时（★新增）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800600" y="233172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有实际日期 → 实际 − 启动（工作日）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无实际日期 → 计划 − 启动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暂停中 → 锁定暂停日耗时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日期倒置时弹窗警告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1480" y="3520440"/>
            <a:ext cx="8321040" cy="594360"/>
          </a:xfrm>
          <a:prstGeom prst="roundRect">
            <a:avLst>
              <a:gd name="adj" fmla="val 9231"/>
            </a:avLst>
          </a:prstGeom>
          <a:solidFill>
            <a:srgbClr val="F3FB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594360" y="36118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约束规则：计划完成日期不能早于启动日期。倒置触发弹窗「⚠️ 日期错误 / Date Error」，程序自动拒绝输入。</a:t>
            </a:r>
            <a:endParaRPr lang="en-US" sz="1000" dirty="0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EF6F2E15-A65C-5479-91F5-6ED230A2E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MBO — 优先级体系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65760" cy="365760"/>
          </a:xfrm>
          <a:prstGeom prst="ellipse">
            <a:avLst/>
          </a:prstGeom>
          <a:solidFill>
            <a:srgbClr val="D643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58368" y="1161288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124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重要紧急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463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需本周重点完成的关键任务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直接影响核心目标达成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365760" cy="365760"/>
          </a:xfrm>
          <a:prstGeom prst="ellipse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58368" y="2167128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130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重要不急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战略性工作，需持续推进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不急于本周完成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40080" y="3291840"/>
            <a:ext cx="365760" cy="365760"/>
          </a:xfrm>
          <a:prstGeom prst="ellipse">
            <a:avLst/>
          </a:prstGeom>
          <a:solidFill>
            <a:srgbClr val="0F7BE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58368" y="3172968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136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日常紧急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日常运营中的紧急事项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可能被打断或调整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365760" cy="365760"/>
          </a:xfrm>
          <a:prstGeom prst="ellipse">
            <a:avLst/>
          </a:prstGeom>
          <a:solidFill>
            <a:srgbClr val="5E70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58368" y="4178808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4142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日常事项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4480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常规例行工作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按计划稳步推进</a:t>
            </a:r>
            <a:endParaRPr lang="en-US" sz="1100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57385F4E-8010-C645-AC1A-163E57C73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MBO — 任务完成状态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58368" y="1161288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124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463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按时或提前完成，获得正向积分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365760" cy="365760"/>
          </a:xfrm>
          <a:prstGeom prst="ellipse">
            <a:avLst/>
          </a:prstGeom>
          <a:solidFill>
            <a:srgbClr val="0F7BE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58368" y="2167128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130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正常推进中，计划日期已排期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40080" y="3291840"/>
            <a:ext cx="365760" cy="365760"/>
          </a:xfrm>
          <a:prstGeom prst="ellipse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58368" y="3172968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136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已逾期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超过计划日期未完成，将扣分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365760" cy="365760"/>
          </a:xfrm>
          <a:prstGeom prst="ellipse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58368" y="4178808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4142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暂停中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4480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因客观原因暂缓执行</a:t>
            </a:r>
            <a:endParaRPr lang="en-US" sz="1100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A7DC27C4-3A93-4918-5422-2ED5856B7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  <p:grpSp>
        <p:nvGrpSpPr>
          <p:cNvPr id="37" name="组合 36">
            <a:extLst>
              <a:ext uri="{FF2B5EF4-FFF2-40B4-BE49-F238E27FC236}">
                <a16:creationId xmlns:a16="http://schemas.microsoft.com/office/drawing/2014/main" id="{51F5887A-019C-38CB-453E-A64B233ECF24}"/>
              </a:ext>
            </a:extLst>
          </p:cNvPr>
          <p:cNvGrpSpPr/>
          <p:nvPr/>
        </p:nvGrpSpPr>
        <p:grpSpPr>
          <a:xfrm>
            <a:off x="4261104" y="1280160"/>
            <a:ext cx="4434840" cy="3349945"/>
            <a:chOff x="2270941" y="1219508"/>
            <a:chExt cx="7323199" cy="4891925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381BA2C-2E2B-8609-5B5C-E643F12AFB4A}"/>
                </a:ext>
              </a:extLst>
            </p:cNvPr>
            <p:cNvSpPr/>
            <p:nvPr/>
          </p:nvSpPr>
          <p:spPr>
            <a:xfrm>
              <a:off x="2270941" y="1219508"/>
              <a:ext cx="7323199" cy="4891925"/>
            </a:xfrm>
            <a:prstGeom prst="rect">
              <a:avLst/>
            </a:prstGeom>
            <a:solidFill>
              <a:srgbClr val="1380B9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26" name="直线箭头连接符 25">
              <a:extLst>
                <a:ext uri="{FF2B5EF4-FFF2-40B4-BE49-F238E27FC236}">
                  <a16:creationId xmlns:a16="http://schemas.microsoft.com/office/drawing/2014/main" id="{D80C8EB6-7623-1DEC-3378-E4832C54459F}"/>
                </a:ext>
              </a:extLst>
            </p:cNvPr>
            <p:cNvCxnSpPr>
              <a:cxnSpLocks/>
            </p:cNvCxnSpPr>
            <p:nvPr/>
          </p:nvCxnSpPr>
          <p:spPr>
            <a:xfrm>
              <a:off x="3819427" y="3683196"/>
              <a:ext cx="4466736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箭头连接符 26">
              <a:extLst>
                <a:ext uri="{FF2B5EF4-FFF2-40B4-BE49-F238E27FC236}">
                  <a16:creationId xmlns:a16="http://schemas.microsoft.com/office/drawing/2014/main" id="{3C8EF7E0-0F54-A7CB-1944-D4E1AB5A0F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6912" y="2104152"/>
              <a:ext cx="0" cy="327006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5D8237F3-9921-5FC0-BC6E-BAEE5BE39F7B}"/>
                </a:ext>
              </a:extLst>
            </p:cNvPr>
            <p:cNvSpPr txBox="1"/>
            <p:nvPr/>
          </p:nvSpPr>
          <p:spPr>
            <a:xfrm>
              <a:off x="2510141" y="1438185"/>
              <a:ext cx="3893694" cy="6067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zh-CN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艾森豪威尔矩阵</a:t>
              </a:r>
              <a:endParaRPr kumimoji="1" lang="en-US" altLang="zh-CN" sz="9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r>
                <a:rPr kumimoji="1" lang="zh-CN" altLang="zh-CN" sz="9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Eisenhower Matrix</a:t>
              </a:r>
              <a:endParaRPr kumimoji="1" lang="zh-CN" altLang="en-US" sz="9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8CAB6EA-9157-B8C3-00C9-151D1DE03E91}"/>
                </a:ext>
              </a:extLst>
            </p:cNvPr>
            <p:cNvSpPr txBox="1"/>
            <p:nvPr/>
          </p:nvSpPr>
          <p:spPr>
            <a:xfrm>
              <a:off x="5442509" y="1631329"/>
              <a:ext cx="1194593" cy="527379"/>
            </a:xfrm>
            <a:prstGeom prst="rect">
              <a:avLst/>
            </a:prstGeom>
          </p:spPr>
          <p:txBody>
            <a:bodyPr vert="horz" wrap="none" lIns="91440" tIns="45720" rIns="91440" bIns="45720" rtlCol="0" anchor="t">
              <a:normAutofit/>
            </a:bodyPr>
            <a:lstStyle/>
            <a:p>
              <a:pPr algn="ctr"/>
              <a:r>
                <a:rPr kumimoji="1" lang="zh-CN" altLang="en-US" sz="10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重要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2B60E28-97D8-47C2-F301-AF2B4A58CAD1}"/>
                </a:ext>
              </a:extLst>
            </p:cNvPr>
            <p:cNvSpPr txBox="1"/>
            <p:nvPr/>
          </p:nvSpPr>
          <p:spPr>
            <a:xfrm>
              <a:off x="5455497" y="5434682"/>
              <a:ext cx="1194593" cy="463813"/>
            </a:xfrm>
            <a:prstGeom prst="rect">
              <a:avLst/>
            </a:prstGeom>
          </p:spPr>
          <p:txBody>
            <a:bodyPr vert="horz" wrap="none" lIns="91440" tIns="45720" rIns="91440" bIns="45720" rtlCol="0" anchor="t">
              <a:normAutofit/>
            </a:bodyPr>
            <a:lstStyle/>
            <a:p>
              <a:pPr algn="ctr"/>
              <a:r>
                <a:rPr kumimoji="1" lang="zh-CN" altLang="en-US" sz="10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日常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04AF0192-0B6E-AB6A-71FB-0F361AA07079}"/>
                </a:ext>
              </a:extLst>
            </p:cNvPr>
            <p:cNvSpPr txBox="1"/>
            <p:nvPr/>
          </p:nvSpPr>
          <p:spPr>
            <a:xfrm>
              <a:off x="8135309" y="3487472"/>
              <a:ext cx="1194593" cy="527379"/>
            </a:xfrm>
            <a:prstGeom prst="rect">
              <a:avLst/>
            </a:prstGeom>
          </p:spPr>
          <p:txBody>
            <a:bodyPr vert="horz" wrap="none" lIns="91440" tIns="45720" rIns="91440" bIns="45720" rtlCol="0" anchor="t">
              <a:normAutofit/>
            </a:bodyPr>
            <a:lstStyle/>
            <a:p>
              <a:pPr algn="ctr"/>
              <a:r>
                <a:rPr kumimoji="1" lang="zh-CN" altLang="en-US" sz="10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紧急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2C428DC-DE0B-DD43-2BCD-E52A8352F3CE}"/>
                </a:ext>
              </a:extLst>
            </p:cNvPr>
            <p:cNvSpPr txBox="1"/>
            <p:nvPr/>
          </p:nvSpPr>
          <p:spPr>
            <a:xfrm>
              <a:off x="2723922" y="3496285"/>
              <a:ext cx="1194593" cy="527379"/>
            </a:xfrm>
            <a:prstGeom prst="rect">
              <a:avLst/>
            </a:prstGeom>
          </p:spPr>
          <p:txBody>
            <a:bodyPr vert="horz" wrap="none" lIns="91440" tIns="45720" rIns="91440" bIns="45720" rtlCol="0" anchor="t">
              <a:normAutofit/>
            </a:bodyPr>
            <a:lstStyle/>
            <a:p>
              <a:pPr algn="ctr"/>
              <a:r>
                <a:rPr kumimoji="1" lang="zh-CN" altLang="en-US" sz="10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不紧急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6C76CAE-1BFA-26FF-F6C7-58D933B20860}"/>
                </a:ext>
              </a:extLst>
            </p:cNvPr>
            <p:cNvSpPr txBox="1"/>
            <p:nvPr/>
          </p:nvSpPr>
          <p:spPr>
            <a:xfrm>
              <a:off x="6637104" y="2629986"/>
              <a:ext cx="1194593" cy="527379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none" lIns="91440" tIns="45720" rIns="91440" bIns="45720" rtlCol="0" anchor="ctr">
              <a:normAutofit/>
            </a:bodyPr>
            <a:lstStyle/>
            <a:p>
              <a:pPr algn="ctr"/>
              <a:r>
                <a:rPr kumimoji="1" lang="zh-CN" altLang="en-US" sz="10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重要紧急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1E85B1E8-DF00-C7CF-E7AE-5636F5AD0509}"/>
                </a:ext>
              </a:extLst>
            </p:cNvPr>
            <p:cNvSpPr txBox="1"/>
            <p:nvPr/>
          </p:nvSpPr>
          <p:spPr>
            <a:xfrm>
              <a:off x="4273934" y="4300489"/>
              <a:ext cx="1194593" cy="527379"/>
            </a:xfrm>
            <a:prstGeom prst="rect">
              <a:avLst/>
            </a:prstGeom>
            <a:solidFill>
              <a:schemeClr val="accent3"/>
            </a:solidFill>
          </p:spPr>
          <p:txBody>
            <a:bodyPr vert="horz" wrap="none" lIns="91440" tIns="45720" rIns="91440" bIns="45720" rtlCol="0" anchor="ctr">
              <a:normAutofit/>
            </a:bodyPr>
            <a:lstStyle/>
            <a:p>
              <a:pPr algn="ctr"/>
              <a:r>
                <a:rPr kumimoji="1" lang="zh-CN" altLang="en-US" sz="10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日常事项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3BAA8F0D-5B2E-133A-CFEC-3E572E9B9A22}"/>
                </a:ext>
              </a:extLst>
            </p:cNvPr>
            <p:cNvSpPr txBox="1"/>
            <p:nvPr/>
          </p:nvSpPr>
          <p:spPr>
            <a:xfrm>
              <a:off x="4235020" y="2685969"/>
              <a:ext cx="1194593" cy="527379"/>
            </a:xfrm>
            <a:prstGeom prst="rect">
              <a:avLst/>
            </a:prstGeom>
            <a:solidFill>
              <a:schemeClr val="accent4"/>
            </a:solidFill>
          </p:spPr>
          <p:txBody>
            <a:bodyPr vert="horz" wrap="none" lIns="91440" tIns="45720" rIns="91440" bIns="45720" rtlCol="0" anchor="ctr">
              <a:normAutofit/>
            </a:bodyPr>
            <a:lstStyle/>
            <a:p>
              <a:pPr algn="ctr"/>
              <a:r>
                <a:rPr kumimoji="1" lang="zh-CN" altLang="en-US" sz="1000" b="1" dirty="0">
                  <a:solidFill>
                    <a:schemeClr val="accent1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重要不急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0C081BF-F838-9B9B-7569-DD4B4A323540}"/>
                </a:ext>
              </a:extLst>
            </p:cNvPr>
            <p:cNvSpPr txBox="1"/>
            <p:nvPr/>
          </p:nvSpPr>
          <p:spPr>
            <a:xfrm>
              <a:off x="6637102" y="4265015"/>
              <a:ext cx="1194593" cy="527379"/>
            </a:xfrm>
            <a:prstGeom prst="rect">
              <a:avLst/>
            </a:prstGeom>
            <a:solidFill>
              <a:srgbClr val="1B7AE4"/>
            </a:solidFill>
          </p:spPr>
          <p:txBody>
            <a:bodyPr vert="horz" wrap="none" lIns="91440" tIns="45720" rIns="91440" bIns="45720" rtlCol="0" anchor="ctr">
              <a:normAutofit/>
            </a:bodyPr>
            <a:lstStyle/>
            <a:p>
              <a:pPr algn="ctr"/>
              <a:r>
                <a:rPr kumimoji="1" lang="zh-CN" altLang="en-US" sz="10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日常紧急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MBO — 任务操作指南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添加任务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点击「+ 新增工作计划」按钮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在空白行填写内容并保存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93776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编辑任务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点击任意单元格进入编辑模式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支持文本、日期、下拉选择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删除任务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点击行首 # 列删除按钮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弹出确认对话框后删除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93776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日期选择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计划/实际完成日期使用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浏览器原生日期选择器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优先级选择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点击优先级单元格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在彩色下拉面板中选择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5204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93776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状态更新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977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点击完成状态单元格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选择对应状态（带彩色圆点）</a:t>
            </a:r>
            <a:endParaRPr lang="en-US" sz="11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57E410D-D848-4C89-2045-3A67CAFE7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MBO 上周转入与操作指南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0233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023360" cy="36576"/>
          </a:xfrm>
          <a:prstGeom prst="rect">
            <a:avLst/>
          </a:prstGeom>
          <a:solidFill>
            <a:srgbClr val="FFCF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115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上周转入机制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上周未完成任务自动转入本周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黄色背景标识，标注来源周次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转入任务可正常编辑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确保工作连续性，避免遗漏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0233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023360" cy="36576"/>
          </a:xfrm>
          <a:prstGeom prst="rect">
            <a:avLst/>
          </a:prstGeom>
          <a:solidFill>
            <a:srgbClr val="1B6EC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800600" y="1143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1115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操作要点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50876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点击「+ 新增」添加任务行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点击单元格进入编辑模式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 保存，Esc 取消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日期使用浏览器原生选择器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优先级/状态下拉带彩色圆点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291840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11480" y="3291840"/>
            <a:ext cx="4023360" cy="36576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02920" y="3429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⌨️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3401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快捷键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7947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保存 | Esc 取消 | Cmd+Shift+R 强制刷新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291840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709160" y="3291840"/>
            <a:ext cx="4023360" cy="36576"/>
          </a:xfrm>
          <a:prstGeom prst="rect">
            <a:avLst/>
          </a:prstGeom>
          <a:solidFill>
            <a:srgbClr val="D643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800600" y="3429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12080" y="3401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日期约束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37947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计划完成日期不能早于启动日期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倒置时弹窗警告并拒绝保存</a:t>
            </a:r>
            <a:endParaRPr lang="en-US" sz="1000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F464AB6A-3DF4-5D7D-5F6D-F453C6CC1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MBO — 上周转入机制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0F6897"/>
                </a:solidFill>
              </a:rPr>
              <a:t>功能说明</a:t>
            </a:r>
            <a:endParaRPr lang="en-US" sz="1600" dirty="0">
              <a:solidFill>
                <a:srgbClr val="0F6897"/>
              </a:solidFill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F6897"/>
                </a:solidFill>
              </a:rPr>
              <a:t> </a:t>
            </a:r>
            <a:endParaRPr lang="en-US" sz="1600" dirty="0">
              <a:solidFill>
                <a:srgbClr val="0F6897"/>
              </a:solidFill>
            </a:endParaRPr>
          </a:p>
          <a:p>
            <a:pPr marL="0" indent="0">
              <a:lnSpc>
                <a:spcPts val="2320"/>
              </a:lnSpc>
              <a:buNone/>
            </a:pPr>
            <a:r>
              <a:rPr lang="en-US" sz="1300" dirty="0">
                <a:solidFill>
                  <a:srgbClr val="0F6897"/>
                </a:solidFill>
              </a:rPr>
              <a:t>上周未完成的任务会自动转入本周，以黄色背景标识，并标注"来源:2026年7月第1周"。</a:t>
            </a:r>
            <a:endParaRPr lang="en-US" sz="1600" dirty="0">
              <a:solidFill>
                <a:srgbClr val="0F6897"/>
              </a:solidFill>
            </a:endParaRPr>
          </a:p>
          <a:p>
            <a:pPr marL="0" indent="0">
              <a:lnSpc>
                <a:spcPts val="2320"/>
              </a:lnSpc>
              <a:buNone/>
            </a:pPr>
            <a:r>
              <a:rPr lang="en-US" sz="1300" dirty="0" err="1">
                <a:solidFill>
                  <a:srgbClr val="0F6897"/>
                </a:solidFill>
              </a:rPr>
              <a:t>确保工作连续性，避免遗漏跨周期任务</a:t>
            </a:r>
            <a:r>
              <a:rPr lang="en-US" sz="1300" dirty="0">
                <a:solidFill>
                  <a:srgbClr val="0F6897"/>
                </a:solidFill>
              </a:rPr>
              <a:t>。</a:t>
            </a:r>
          </a:p>
          <a:p>
            <a:pPr marL="0" indent="0">
              <a:lnSpc>
                <a:spcPts val="2320"/>
              </a:lnSpc>
              <a:buNone/>
            </a:pPr>
            <a:endParaRPr lang="en-US" sz="1600" dirty="0">
              <a:solidFill>
                <a:srgbClr val="0F6897"/>
              </a:solidFill>
            </a:endParaRPr>
          </a:p>
          <a:p>
            <a:pPr marL="0" indent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0F6897"/>
                </a:solidFill>
              </a:rPr>
              <a:t>操作要点</a:t>
            </a:r>
            <a:endParaRPr lang="en-US" sz="1600" dirty="0">
              <a:solidFill>
                <a:srgbClr val="0F6897"/>
              </a:solidFill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F6897"/>
                </a:solidFill>
              </a:rPr>
              <a:t> </a:t>
            </a:r>
            <a:endParaRPr lang="en-US" sz="1600" dirty="0">
              <a:solidFill>
                <a:srgbClr val="0F6897"/>
              </a:solidFill>
            </a:endParaRPr>
          </a:p>
          <a:p>
            <a:pPr marL="0" indent="0">
              <a:lnSpc>
                <a:spcPts val="2320"/>
              </a:lnSpc>
              <a:buNone/>
            </a:pPr>
            <a:r>
              <a:rPr lang="en-US" sz="1300" dirty="0">
                <a:solidFill>
                  <a:srgbClr val="0F6897"/>
                </a:solidFill>
              </a:rPr>
              <a:t>· 转入任务可正常编辑所有字段</a:t>
            </a:r>
            <a:endParaRPr lang="en-US" sz="1600" dirty="0">
              <a:solidFill>
                <a:srgbClr val="0F6897"/>
              </a:solidFill>
            </a:endParaRPr>
          </a:p>
          <a:p>
            <a:pPr marL="0" indent="0">
              <a:lnSpc>
                <a:spcPts val="2320"/>
              </a:lnSpc>
              <a:buNone/>
            </a:pPr>
            <a:r>
              <a:rPr lang="en-US" sz="1300" dirty="0">
                <a:solidFill>
                  <a:srgbClr val="0F6897"/>
                </a:solidFill>
              </a:rPr>
              <a:t>· 黄色背景 (#FFFDF5) 区分于本周新增任务</a:t>
            </a:r>
            <a:endParaRPr lang="en-US" sz="1600" dirty="0">
              <a:solidFill>
                <a:srgbClr val="0F6897"/>
              </a:solidFill>
            </a:endParaRPr>
          </a:p>
          <a:p>
            <a:pPr marL="0" indent="0">
              <a:lnSpc>
                <a:spcPts val="2320"/>
              </a:lnSpc>
              <a:buNone/>
            </a:pPr>
            <a:r>
              <a:rPr lang="en-US" sz="1300" dirty="0">
                <a:solidFill>
                  <a:srgbClr val="0F6897"/>
                </a:solidFill>
              </a:rPr>
              <a:t>· 表格中「上周转入」标题行高亮显示</a:t>
            </a:r>
            <a:endParaRPr lang="en-US" sz="1600" dirty="0">
              <a:solidFill>
                <a:srgbClr val="0F6897"/>
              </a:solidFill>
            </a:endParaRPr>
          </a:p>
          <a:p>
            <a:pPr marL="0" indent="0">
              <a:lnSpc>
                <a:spcPts val="2320"/>
              </a:lnSpc>
              <a:buNone/>
            </a:pPr>
            <a:r>
              <a:rPr lang="en-US" sz="1300" dirty="0">
                <a:solidFill>
                  <a:srgbClr val="0F6897"/>
                </a:solidFill>
              </a:rPr>
              <a:t>· 转入任务不影响本周任务自由添加</a:t>
            </a:r>
            <a:endParaRPr lang="en-US" sz="1600" dirty="0">
              <a:solidFill>
                <a:srgbClr val="0F6897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937760" y="1005840"/>
            <a:ext cx="3840480" cy="3657600"/>
          </a:xfrm>
          <a:prstGeom prst="roundRect">
            <a:avLst>
              <a:gd name="adj" fmla="val 3000"/>
            </a:avLst>
          </a:prstGeom>
          <a:solidFill>
            <a:srgbClr val="FFF8E7"/>
          </a:solidFill>
          <a:ln w="12700">
            <a:solidFill>
              <a:srgbClr val="E8D5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12064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69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📥 上周转入（3项）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120640" y="155448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2C4B"/>
                </a:solidFill>
              </a:rPr>
              <a:t>✅ 任务A：完成竞品分析报告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8B6914"/>
                </a:solidFill>
              </a:rPr>
              <a:t>来源:2026年7月第1周</a:t>
            </a:r>
            <a:endParaRPr lang="en-US" sz="11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2C4B"/>
                </a:solidFill>
              </a:rPr>
              <a:t>✅ 任务B：梳理部门招聘需求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8B6914"/>
                </a:solidFill>
              </a:rPr>
              <a:t>来源:2026年7月第1周</a:t>
            </a:r>
            <a:endParaRPr lang="en-US" sz="11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2C4B"/>
                </a:solidFill>
              </a:rPr>
              <a:t>✅ 任务C：更新员工手册模板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8B6914"/>
                </a:solidFill>
              </a:rPr>
              <a:t>来源:2026年7月第1周</a:t>
            </a:r>
            <a:endParaRPr lang="en-US" sz="11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CFC0495-7AF3-3261-D78E-A5D6DD948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MBO — 协同与评价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协同人设置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为每项任务添加协同人员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多方可见、共同推进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93776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下属查阅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管理者可查看直属下属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及部门成员的周计划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上级评价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直属上级对每项任务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给出评价与建议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93776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任务积分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完成状态触发自动评分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自动计算 +3 / -5 区间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提交锁定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完成后提交并锁定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防止误修改已完成内容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5204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93776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清空计划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977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已提交/锁定/评价后自动保护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需先解锁或撤回后再删除</a:t>
            </a:r>
            <a:endParaRPr lang="en-US" sz="11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7EE76F4B-881F-909B-6F99-9D78D2E8F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MBO 任务积分规则</a:t>
            </a:r>
            <a:endParaRPr lang="en-US" sz="2000" dirty="0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DDC289A3-7C3D-00D7-0312-26C87ADA03F3}"/>
              </a:ext>
            </a:extLst>
          </p:cNvPr>
          <p:cNvGrpSpPr/>
          <p:nvPr/>
        </p:nvGrpSpPr>
        <p:grpSpPr>
          <a:xfrm>
            <a:off x="1234440" y="1108710"/>
            <a:ext cx="6835140" cy="2080260"/>
            <a:chOff x="1463040" y="1097280"/>
            <a:chExt cx="6309360" cy="1920240"/>
          </a:xfrm>
        </p:grpSpPr>
        <p:sp>
          <p:nvSpPr>
            <p:cNvPr id="4" name="Shape 2"/>
            <p:cNvSpPr/>
            <p:nvPr/>
          </p:nvSpPr>
          <p:spPr>
            <a:xfrm>
              <a:off x="1463040" y="1097280"/>
              <a:ext cx="1371600" cy="384048"/>
            </a:xfrm>
            <a:prstGeom prst="rect">
              <a:avLst/>
            </a:prstGeom>
            <a:solidFill>
              <a:srgbClr val="003472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1463040" y="1097280"/>
              <a:ext cx="13716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工作类别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2834640" y="1097280"/>
              <a:ext cx="1645920" cy="384048"/>
            </a:xfrm>
            <a:prstGeom prst="rect">
              <a:avLst/>
            </a:prstGeom>
            <a:solidFill>
              <a:srgbClr val="003472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2834640" y="1097280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按时完成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4480560" y="1097280"/>
              <a:ext cx="1645920" cy="384048"/>
            </a:xfrm>
            <a:prstGeom prst="rect">
              <a:avLst/>
            </a:prstGeom>
            <a:solidFill>
              <a:srgbClr val="003472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4480560" y="1097280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逾期完成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6126480" y="1097280"/>
              <a:ext cx="1645920" cy="384048"/>
            </a:xfrm>
            <a:prstGeom prst="rect">
              <a:avLst/>
            </a:prstGeom>
            <a:solidFill>
              <a:srgbClr val="003472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6126480" y="1097280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未做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1463040" y="1481328"/>
              <a:ext cx="1371600" cy="384048"/>
            </a:xfrm>
            <a:prstGeom prst="rect">
              <a:avLst/>
            </a:prstGeom>
            <a:solidFill>
              <a:srgbClr val="F3FB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1463040" y="1481328"/>
              <a:ext cx="13716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重要紧急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2834640" y="1481328"/>
              <a:ext cx="1645920" cy="384048"/>
            </a:xfrm>
            <a:prstGeom prst="rect">
              <a:avLst/>
            </a:prstGeom>
            <a:solidFill>
              <a:srgbClr val="F3FB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2834640" y="1481328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C5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+3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480560" y="1481328"/>
              <a:ext cx="1645920" cy="384048"/>
            </a:xfrm>
            <a:prstGeom prst="rect">
              <a:avLst/>
            </a:prstGeom>
            <a:solidFill>
              <a:srgbClr val="F3FB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 15"/>
            <p:cNvSpPr/>
            <p:nvPr/>
          </p:nvSpPr>
          <p:spPr>
            <a:xfrm>
              <a:off x="4480560" y="1481328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6435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−1.5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126480" y="1481328"/>
              <a:ext cx="1645920" cy="384048"/>
            </a:xfrm>
            <a:prstGeom prst="rect">
              <a:avLst/>
            </a:prstGeom>
            <a:solidFill>
              <a:srgbClr val="F3FB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6126480" y="1481328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6435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−5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1463040" y="1865376"/>
              <a:ext cx="1371600" cy="3840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1463040" y="1865376"/>
              <a:ext cx="13716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重要不急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2834640" y="1865376"/>
              <a:ext cx="1645920" cy="3840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2834640" y="1865376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C5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+2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480560" y="1865376"/>
              <a:ext cx="1645920" cy="3840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 23"/>
            <p:cNvSpPr/>
            <p:nvPr/>
          </p:nvSpPr>
          <p:spPr>
            <a:xfrm>
              <a:off x="4480560" y="1865376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6435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−1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6126480" y="1865376"/>
              <a:ext cx="1645920" cy="3840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25"/>
            <p:cNvSpPr/>
            <p:nvPr/>
          </p:nvSpPr>
          <p:spPr>
            <a:xfrm>
              <a:off x="6126480" y="1865376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6435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−4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1463040" y="2249424"/>
              <a:ext cx="1371600" cy="384048"/>
            </a:xfrm>
            <a:prstGeom prst="rect">
              <a:avLst/>
            </a:prstGeom>
            <a:solidFill>
              <a:srgbClr val="F3FB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1463040" y="2249424"/>
              <a:ext cx="13716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日常紧急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2834640" y="2249424"/>
              <a:ext cx="1645920" cy="384048"/>
            </a:xfrm>
            <a:prstGeom prst="rect">
              <a:avLst/>
            </a:prstGeom>
            <a:solidFill>
              <a:srgbClr val="F3FB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2834640" y="2249424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C5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+1.5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4480560" y="2249424"/>
              <a:ext cx="1645920" cy="384048"/>
            </a:xfrm>
            <a:prstGeom prst="rect">
              <a:avLst/>
            </a:prstGeom>
            <a:solidFill>
              <a:srgbClr val="F3FB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 31"/>
            <p:cNvSpPr/>
            <p:nvPr/>
          </p:nvSpPr>
          <p:spPr>
            <a:xfrm>
              <a:off x="4480560" y="2249424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6435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−1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6126480" y="2249424"/>
              <a:ext cx="1645920" cy="384048"/>
            </a:xfrm>
            <a:prstGeom prst="rect">
              <a:avLst/>
            </a:prstGeom>
            <a:solidFill>
              <a:srgbClr val="F3FB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33"/>
            <p:cNvSpPr/>
            <p:nvPr/>
          </p:nvSpPr>
          <p:spPr>
            <a:xfrm>
              <a:off x="6126480" y="2249424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6435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−3</a:t>
              </a:r>
              <a:endParaRPr lang="en-US" sz="10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1463040" y="2633472"/>
              <a:ext cx="1371600" cy="3840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1463040" y="2633472"/>
              <a:ext cx="13716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日常事项</a:t>
              </a:r>
              <a:endParaRPr lang="en-US" sz="10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2834640" y="2633472"/>
              <a:ext cx="1645920" cy="3840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 37"/>
            <p:cNvSpPr/>
            <p:nvPr/>
          </p:nvSpPr>
          <p:spPr>
            <a:xfrm>
              <a:off x="2834640" y="2633472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C5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+1</a:t>
              </a:r>
              <a:endParaRPr lang="en-US" sz="10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4480560" y="2633472"/>
              <a:ext cx="1645920" cy="3840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 39"/>
            <p:cNvSpPr/>
            <p:nvPr/>
          </p:nvSpPr>
          <p:spPr>
            <a:xfrm>
              <a:off x="4480560" y="2633472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6435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−0.5</a:t>
              </a:r>
              <a:endParaRPr lang="en-US" sz="10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6126480" y="2633472"/>
              <a:ext cx="1645920" cy="3840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 41"/>
            <p:cNvSpPr/>
            <p:nvPr/>
          </p:nvSpPr>
          <p:spPr>
            <a:xfrm>
              <a:off x="6126480" y="2633472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6435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−2</a:t>
              </a:r>
              <a:endParaRPr lang="en-US" sz="1000" dirty="0"/>
            </a:p>
          </p:txBody>
        </p:sp>
      </p:grpSp>
      <p:sp>
        <p:nvSpPr>
          <p:cNvPr id="44" name="Shape 42"/>
          <p:cNvSpPr/>
          <p:nvPr/>
        </p:nvSpPr>
        <p:spPr>
          <a:xfrm>
            <a:off x="411480" y="3566160"/>
            <a:ext cx="8321040" cy="1188720"/>
          </a:xfrm>
          <a:prstGeom prst="roundRect">
            <a:avLst>
              <a:gd name="adj" fmla="val 6000"/>
            </a:avLst>
          </a:prstGeom>
          <a:solidFill>
            <a:srgbClr val="F3FB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97230" y="3721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积分规则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97230" y="399592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5工作日宽限期（排除周末+法定假日）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手动选择「未做」→ 终止计算，积分=0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暂停中 → 积分=0，耗时锁定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自动「未做」锁定实际完成日期列，显示 '--'</a:t>
            </a:r>
            <a:endParaRPr lang="en-US" sz="1000" dirty="0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26441DFF-2B1D-A3C9-6187-EDE6B55BD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MBO 积分判定逻辑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457200"/>
          </a:xfrm>
          <a:prstGeom prst="roundRect">
            <a:avLst>
              <a:gd name="adj" fmla="val 8000"/>
            </a:avLst>
          </a:prstGeom>
          <a:solidFill>
            <a:srgbClr val="F3FB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按时完成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0058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实际完成日期 ≤ 计划完成日期 → 状态「按时完成」，按对应分值得分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83210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逾期完成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15544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计划日期 &lt; 实际日期 ≤ 计划+5个工作日 → 状态「逾期完成」，按对应分值扣分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103120"/>
            <a:ext cx="8321040" cy="457200"/>
          </a:xfrm>
          <a:prstGeom prst="roundRect">
            <a:avLst>
              <a:gd name="adj" fmla="val 8000"/>
            </a:avLst>
          </a:prstGeom>
          <a:solidFill>
            <a:srgbClr val="F3FB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0292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未做（自动触发）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21031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逾期 &gt; 5个工作日或空日期超宽限期 → 状态「未做」，扣对应分值，锁定日期列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651760"/>
            <a:ext cx="83210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02920" y="2651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未做（手动选择）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26517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用户手动选「未做」→ 终止计算时间，积分=0，不锁定日期列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200400"/>
            <a:ext cx="8321040" cy="457200"/>
          </a:xfrm>
          <a:prstGeom prst="roundRect">
            <a:avLst>
              <a:gd name="adj" fmla="val 8000"/>
            </a:avLst>
          </a:prstGeom>
          <a:solidFill>
            <a:srgbClr val="F3FB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02920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⏹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暂停中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0" y="32004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用户手动选「暂停中」→ 积分=0，耗时锁定为暂停当日数值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749040"/>
            <a:ext cx="83210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02920" y="3749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进行中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37490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无实际日期且未超宽限期 → 状态「进行中」，积分=0</a:t>
            </a:r>
            <a:endParaRPr lang="en-US" sz="1000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D8A5AEC7-ED7F-8971-83C5-DD8DC16AA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2BEEF-5044-6287-5587-8F916F7F5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92D38BB-23BD-DECB-D259-553A234E07B9}"/>
              </a:ext>
            </a:extLst>
          </p:cNvPr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MBO — </a:t>
            </a:r>
            <a:r>
              <a:rPr lang="en-US" sz="2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任务积分</a:t>
            </a:r>
            <a:r>
              <a:rPr lang="en-US" sz="2000" b="1" dirty="0" err="1">
                <a:solidFill>
                  <a:srgbClr val="FFF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扣分</a:t>
            </a:r>
            <a:r>
              <a:rPr lang="en-US" sz="2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</a:t>
            </a:r>
            <a:endParaRPr lang="en-US" sz="2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10A437D-DA26-D000-A8F2-4E0EB4EC1B71}"/>
              </a:ext>
            </a:extLst>
          </p:cNvPr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积分汇总后在协同面板显示，管理者可依据积分评估整体表现</a:t>
            </a:r>
            <a:endParaRPr lang="en-US" sz="1100" dirty="0"/>
          </a:p>
        </p:txBody>
      </p:sp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01EAECA5-694A-497E-AC99-65C7DAB33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396537"/>
              </p:ext>
            </p:extLst>
          </p:nvPr>
        </p:nvGraphicFramePr>
        <p:xfrm>
          <a:off x="204107" y="868680"/>
          <a:ext cx="8735786" cy="3840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290">
                  <a:extLst>
                    <a:ext uri="{9D8B030D-6E8A-4147-A177-3AD203B41FA5}">
                      <a16:colId xmlns:a16="http://schemas.microsoft.com/office/drawing/2014/main" val="3338805994"/>
                    </a:ext>
                  </a:extLst>
                </a:gridCol>
                <a:gridCol w="1055800">
                  <a:extLst>
                    <a:ext uri="{9D8B030D-6E8A-4147-A177-3AD203B41FA5}">
                      <a16:colId xmlns:a16="http://schemas.microsoft.com/office/drawing/2014/main" val="1274622455"/>
                    </a:ext>
                  </a:extLst>
                </a:gridCol>
                <a:gridCol w="574780">
                  <a:extLst>
                    <a:ext uri="{9D8B030D-6E8A-4147-A177-3AD203B41FA5}">
                      <a16:colId xmlns:a16="http://schemas.microsoft.com/office/drawing/2014/main" val="3144593344"/>
                    </a:ext>
                  </a:extLst>
                </a:gridCol>
                <a:gridCol w="1054168">
                  <a:extLst>
                    <a:ext uri="{9D8B030D-6E8A-4147-A177-3AD203B41FA5}">
                      <a16:colId xmlns:a16="http://schemas.microsoft.com/office/drawing/2014/main" val="383023494"/>
                    </a:ext>
                  </a:extLst>
                </a:gridCol>
                <a:gridCol w="576411">
                  <a:extLst>
                    <a:ext uri="{9D8B030D-6E8A-4147-A177-3AD203B41FA5}">
                      <a16:colId xmlns:a16="http://schemas.microsoft.com/office/drawing/2014/main" val="2181555673"/>
                    </a:ext>
                  </a:extLst>
                </a:gridCol>
                <a:gridCol w="1059876">
                  <a:extLst>
                    <a:ext uri="{9D8B030D-6E8A-4147-A177-3AD203B41FA5}">
                      <a16:colId xmlns:a16="http://schemas.microsoft.com/office/drawing/2014/main" val="3745241725"/>
                    </a:ext>
                  </a:extLst>
                </a:gridCol>
                <a:gridCol w="570705">
                  <a:extLst>
                    <a:ext uri="{9D8B030D-6E8A-4147-A177-3AD203B41FA5}">
                      <a16:colId xmlns:a16="http://schemas.microsoft.com/office/drawing/2014/main" val="3276684904"/>
                    </a:ext>
                  </a:extLst>
                </a:gridCol>
                <a:gridCol w="1087598">
                  <a:extLst>
                    <a:ext uri="{9D8B030D-6E8A-4147-A177-3AD203B41FA5}">
                      <a16:colId xmlns:a16="http://schemas.microsoft.com/office/drawing/2014/main" val="211158973"/>
                    </a:ext>
                  </a:extLst>
                </a:gridCol>
                <a:gridCol w="690806">
                  <a:extLst>
                    <a:ext uri="{9D8B030D-6E8A-4147-A177-3AD203B41FA5}">
                      <a16:colId xmlns:a16="http://schemas.microsoft.com/office/drawing/2014/main" val="990797836"/>
                    </a:ext>
                  </a:extLst>
                </a:gridCol>
                <a:gridCol w="1250352">
                  <a:extLst>
                    <a:ext uri="{9D8B030D-6E8A-4147-A177-3AD203B41FA5}">
                      <a16:colId xmlns:a16="http://schemas.microsoft.com/office/drawing/2014/main" val="2046670863"/>
                    </a:ext>
                  </a:extLst>
                </a:gridCol>
              </a:tblGrid>
              <a:tr h="424257">
                <a:tc>
                  <a:txBody>
                    <a:bodyPr/>
                    <a:lstStyle/>
                    <a:p>
                      <a:r>
                        <a:rPr lang="zh-CN" altLang="en-US" sz="1100" b="1" dirty="0"/>
                        <a:t>工作类别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按时完成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逾期完成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/>
                        <a:t>未做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暂停中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进行中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721392"/>
                  </a:ext>
                </a:extLst>
              </a:tr>
              <a:tr h="66414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重要紧急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l"/>
                      <a:r>
                        <a:rPr lang="zh-CN" altLang="en-US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程序自动判断逻辑：</a:t>
                      </a:r>
                      <a:endParaRPr lang="en-US" altLang="zh-CN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当“实际完成日期”填入的时间数据不晚于“计划完成日期”列中设定的“计划完成日期”即未按时完成</a:t>
                      </a:r>
                      <a:endParaRPr lang="en-US" altLang="zh-CN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l"/>
                      <a:endParaRPr lang="en-US" altLang="zh-CN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此时程序自动触发：</a:t>
                      </a:r>
                      <a:endParaRPr lang="en-US" altLang="zh-CN" sz="9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、在“完成状态”列中自动填入“按时完成”，</a:t>
                      </a:r>
                      <a:endParaRPr lang="en-US" altLang="zh-CN" sz="9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、在相应的积分列中自动填入右侧对应的加分分值</a:t>
                      </a:r>
                      <a:endParaRPr lang="en-US" altLang="zh-CN" sz="9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  <a:p>
                      <a:pPr algn="l"/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+3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l"/>
                      <a:r>
                        <a:rPr lang="zh-CN" altLang="en-US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计划完成日期到期后完成，并且尚未达到“未做”的触发条件</a:t>
                      </a:r>
                      <a:endParaRPr lang="en-US" altLang="zh-CN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l"/>
                      <a:endParaRPr lang="en-US" altLang="zh-CN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（程序判断逻辑：“实际完成日期”列中出现日期数据，但迟于“计划完成日期”，但逾期天数尚未达到</a:t>
                      </a:r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r>
                        <a:rPr lang="zh-CN" altLang="en-US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个工作）</a:t>
                      </a:r>
                      <a:endParaRPr lang="en-US" altLang="zh-CN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l"/>
                      <a:endParaRPr lang="en-US" altLang="zh-CN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此时程序自动触发：</a:t>
                      </a:r>
                      <a:endParaRPr lang="en-US" altLang="zh-CN" sz="9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、在“完成状态”列中自动填入“逾期完成”</a:t>
                      </a:r>
                      <a:endParaRPr lang="en-US" altLang="zh-CN" sz="9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、在相应的积分列中自动填入右侧对应的扣分分值</a:t>
                      </a:r>
                      <a:endParaRPr lang="en-US" altLang="zh-CN" sz="9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  <a:p>
                      <a:pPr algn="ctr"/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-1.5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l"/>
                      <a:r>
                        <a:rPr lang="zh-CN" altLang="en-US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当员工在“实际完成日期”列中填入的完成日期超出了“计划完成日期”达</a:t>
                      </a:r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r>
                        <a:rPr lang="zh-CN" altLang="en-US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个工作日（注意：剔除周六、周日及中国国家法定假期天数），或达到</a:t>
                      </a:r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r>
                        <a:rPr lang="zh-CN" altLang="en-US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个工作日的次日，员工的“计划完成日期”列中仍为空白，无任何数据信息，</a:t>
                      </a:r>
                      <a:endParaRPr lang="en-US" altLang="zh-CN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l"/>
                      <a:endParaRPr lang="en-US" altLang="zh-CN" sz="9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此时程序自动触发</a:t>
                      </a:r>
                      <a:r>
                        <a:rPr lang="en-US" altLang="zh-CN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、在“完成状态”列中自动填入</a:t>
                      </a:r>
                      <a:r>
                        <a:rPr lang="zh-CN" altLang="en-US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“未做”</a:t>
                      </a:r>
                      <a:endParaRPr lang="en-US" altLang="zh-CN" sz="9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、在相应的“积分”列中自动填入右侧相应扣分分值</a:t>
                      </a:r>
                      <a:endParaRPr lang="en-US" altLang="zh-CN" sz="9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-5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l"/>
                      <a:r>
                        <a:rPr lang="zh-CN" altLang="en-US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完成状态列，当员工手动选择“暂停”，</a:t>
                      </a:r>
                      <a:endParaRPr lang="en-US" altLang="zh-CN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l"/>
                      <a:endParaRPr lang="en-US" altLang="zh-CN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系统自动触发：</a:t>
                      </a:r>
                      <a:endParaRPr lang="en-US" altLang="zh-CN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l"/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、终止计算时间</a:t>
                      </a:r>
                      <a:endParaRPr lang="en-US" altLang="zh-CN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l"/>
                      <a:r>
                        <a:rPr lang="en-US" altLang="zh-CN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、在对应积分列中自动填入分值：</a:t>
                      </a:r>
                      <a:r>
                        <a:rPr lang="en-US" altLang="zh-CN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0</a:t>
                      </a:r>
                      <a:endParaRPr lang="en-US" altLang="zh-CN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l"/>
                      <a:r>
                        <a:rPr lang="zh-CN" altLang="en-US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当：当前系统日期还未达到“计划完成日期”并且“实际完成日期”列中员工未输入数据，程序自动触发在完成状态列中自动填入“进行中”积分列保持清空无数据状态</a:t>
                      </a:r>
                      <a:endParaRPr lang="en-US" altLang="zh-CN" sz="9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  <a:p>
                      <a:pPr algn="l"/>
                      <a:endParaRPr lang="en-US" altLang="zh-CN" sz="9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  <a:p>
                      <a:pPr algn="l"/>
                      <a:endParaRPr lang="en-US" altLang="zh-CN" sz="9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但：虽然当前日期未达到“计划完成日期”但用户提前完成工作并输入了完成日期“，此时程序自动触发，按”左侧“按时完成”相应逻辑规则执行</a:t>
                      </a:r>
                      <a:endParaRPr lang="en-US" altLang="zh-CN" sz="9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  <a:p>
                      <a:pPr algn="l"/>
                      <a:endParaRPr lang="en-US" altLang="zh-CN" sz="10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2515505"/>
                  </a:ext>
                </a:extLst>
              </a:tr>
              <a:tr h="66414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重要不急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+2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-1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-4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6708687"/>
                  </a:ext>
                </a:extLst>
              </a:tr>
              <a:tr h="66414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日常紧急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+1.5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-1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-3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599794"/>
                  </a:ext>
                </a:extLst>
              </a:tr>
              <a:tr h="142378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日常事项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+1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-0.5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zh-CN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-2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8490414"/>
                  </a:ext>
                </a:extLst>
              </a:tr>
            </a:tbl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4DAA03E6-21A6-20C3-C73E-2DB9D0BE6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8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MBO 工作日计算与法定假日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0233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023360" cy="36576"/>
          </a:xfrm>
          <a:prstGeom prst="rect">
            <a:avLst/>
          </a:prstGeom>
          <a:solidFill>
            <a:srgbClr val="00347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115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工作日计算规则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794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排除周六、周日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排除中国法定节假日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调休上班日按工作日计算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2026年完整假期数据已嵌入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0233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023360" cy="36576"/>
          </a:xfrm>
          <a:prstGeom prst="rect">
            <a:avLst/>
          </a:prstGeom>
          <a:solidFill>
            <a:srgbClr val="1B6EC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800600" y="1143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1115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2026年法定假日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508760"/>
            <a:ext cx="3794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元旦 1/1-1/3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春节 2/15-2/23（9天）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清明 4/4-4/6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劳动节 5/1-5/5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端午 6/19-6/21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中秋 9/25-9/27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国庆 10/1-10/7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含调休上班日补充数据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520440"/>
            <a:ext cx="8321040" cy="594360"/>
          </a:xfrm>
          <a:prstGeom prst="roundRect">
            <a:avLst>
              <a:gd name="adj" fmla="val 9231"/>
            </a:avLst>
          </a:prstGeom>
          <a:solidFill>
            <a:srgbClr val="F3FB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94360" y="36118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宽限期 = 5个工作日（计划日期次日起算，排除周末+法定假日）。逾期超过宽限期 → 自动判定为「未做」并扣分。</a:t>
            </a:r>
            <a:endParaRPr lang="en-US" sz="10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965B93C-3BCC-11D4-A60E-44F47F17E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辅助分析建议 — 工作原理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CCEE"/>
                </a:solidFill>
              </a:defRPr>
            </a:pPr>
            <a:r>
              <a:t>AI-Powered Analysis &amp; Suggestions —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24688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/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B4F72"/>
                </a:solidFill>
              </a:defRPr>
            </a:pPr>
            <a:r>
              <a:t>数据收集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8AACC"/>
                </a:solidFill>
              </a:defRPr>
            </a:pPr>
            <a:r>
              <a:t>Data 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103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100">
                <a:solidFill>
                  <a:srgbClr val="333333"/>
                </a:solidFill>
              </a:defRPr>
            </a:pPr>
            <a:r>
              <a:t>· 读取本周全部任务数据</a:t>
            </a:r>
          </a:p>
          <a:p>
            <a:pPr algn="ctr">
              <a:spcAft>
                <a:spcPts val="1000"/>
              </a:spcAft>
              <a:defRPr sz="1100">
                <a:solidFill>
                  <a:srgbClr val="333333"/>
                </a:solidFill>
              </a:defRPr>
            </a:pPr>
            <a:r>
              <a:t>· 提取优先级、完成状态、积分、耗时</a:t>
            </a:r>
          </a:p>
          <a:p>
            <a:pPr algn="ctr">
              <a:spcAft>
                <a:spcPts val="1000"/>
              </a:spcAft>
              <a:defRPr sz="1100">
                <a:solidFill>
                  <a:srgbClr val="333333"/>
                </a:solidFill>
              </a:defRPr>
            </a:pPr>
            <a:r>
              <a:t>· 汇总员工自填的问题与困难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645920"/>
            <a:ext cx="24688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7830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/>
            </a:pPr>
            <a: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377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B4F72"/>
                </a:solidFill>
              </a:defRPr>
            </a:pPr>
            <a:r>
              <a:t>智能分析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69748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8AACC"/>
                </a:solidFill>
              </a:defRPr>
            </a:pPr>
            <a:r>
              <a:t>AI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200400"/>
            <a:ext cx="2103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100">
                <a:solidFill>
                  <a:srgbClr val="333333"/>
                </a:solidFill>
              </a:defRPr>
            </a:pPr>
            <a:r>
              <a:t>· 综合评估完成率、时效性、积分分布</a:t>
            </a:r>
          </a:p>
          <a:p>
            <a:pPr algn="ctr">
              <a:spcAft>
                <a:spcPts val="1000"/>
              </a:spcAft>
              <a:defRPr sz="1100">
                <a:solidFill>
                  <a:srgbClr val="333333"/>
                </a:solidFill>
              </a:defRPr>
            </a:pPr>
            <a:r>
              <a:t>· 识别逾期/未做模式与重复性问题</a:t>
            </a:r>
          </a:p>
          <a:p>
            <a:pPr algn="ctr">
              <a:spcAft>
                <a:spcPts val="1000"/>
              </a:spcAft>
              <a:defRPr sz="1100">
                <a:solidFill>
                  <a:srgbClr val="333333"/>
                </a:solidFill>
              </a:defRPr>
            </a:pPr>
            <a:r>
              <a:t>· 对比历史周数据，发现趋势变化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645920"/>
            <a:ext cx="24688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7830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/>
            </a:pPr>
            <a:r>
              <a:t>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377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B4F72"/>
                </a:solidFill>
              </a:defRPr>
            </a:pPr>
            <a:r>
              <a:t>生成建议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9748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8AACC"/>
                </a:solidFill>
              </a:defRPr>
            </a:pPr>
            <a:r>
              <a:t>Recommendations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200400"/>
            <a:ext cx="2103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100">
                <a:solidFill>
                  <a:srgbClr val="333333"/>
                </a:solidFill>
              </a:defRPr>
            </a:pPr>
            <a:r>
              <a:t>· 自动生成结构化分析报告</a:t>
            </a:r>
          </a:p>
          <a:p>
            <a:pPr algn="ctr">
              <a:spcAft>
                <a:spcPts val="1000"/>
              </a:spcAft>
              <a:defRPr sz="1100">
                <a:solidFill>
                  <a:srgbClr val="333333"/>
                </a:solidFill>
              </a:defRPr>
            </a:pPr>
            <a:r>
              <a:t>· 提示本周亮点与待改进项</a:t>
            </a:r>
          </a:p>
          <a:p>
            <a:pPr algn="ctr">
              <a:spcAft>
                <a:spcPts val="1000"/>
              </a:spcAft>
              <a:defRPr sz="1100">
                <a:solidFill>
                  <a:srgbClr val="333333"/>
                </a:solidFill>
              </a:defRPr>
            </a:pPr>
            <a:r>
              <a:t>· 结合优先级给出下周期优化建议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12648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CCEE"/>
                </a:solidFill>
              </a:defRPr>
            </a:pPr>
            <a:r>
              <a:t>点击工具栏「AI 分析与建议」→ 自动加载分析 → 在「一周工作小结」上方展示结果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MBO 协同与评价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365760"/>
          </a:xfrm>
          <a:prstGeom prst="roundRect">
            <a:avLst>
              <a:gd name="adj" fmla="val 10000"/>
            </a:avLst>
          </a:prstGeom>
          <a:solidFill>
            <a:srgbClr val="F3FB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协同人设置 — 为每项任务添加协同人员，多方可见、共同推进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83210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463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下属查阅 — 管理者可查看直属下属及部门成员的周计划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8321040" cy="365760"/>
          </a:xfrm>
          <a:prstGeom prst="roundRect">
            <a:avLst>
              <a:gd name="adj" fmla="val 10000"/>
            </a:avLst>
          </a:prstGeom>
          <a:solidFill>
            <a:srgbClr val="F3FB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0292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1920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上级评价 — 直属上级对每项任务给出评价与建议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377440"/>
            <a:ext cx="83210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0292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提交锁定 — 提交后锁定优先级、计划日期、工作内容三列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834640"/>
            <a:ext cx="8321040" cy="365760"/>
          </a:xfrm>
          <a:prstGeom prst="roundRect">
            <a:avLst>
              <a:gd name="adj" fmla="val 10000"/>
            </a:avLst>
          </a:prstGeom>
          <a:solidFill>
            <a:srgbClr val="F3FB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0292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2834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清空计划 — 一键清空当前周计划（需确认）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291840"/>
            <a:ext cx="83210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0292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3291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豁免计分 — 上级可为下属豁免本周积分（不扣分不加分）</a:t>
            </a:r>
            <a:endParaRPr lang="en-US" sz="11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45C0239-AF14-0077-2794-D49F55FD9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MBO — 提交与锁定流程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51560" y="1188720"/>
            <a:ext cx="548640" cy="548640"/>
          </a:xfrm>
          <a:prstGeom prst="ellipse">
            <a:avLst/>
          </a:prstGeom>
          <a:solidFill>
            <a:srgbClr val="0F7BE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5156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45920" y="1417320"/>
            <a:ext cx="960120" cy="0"/>
          </a:xfrm>
          <a:prstGeom prst="line">
            <a:avLst/>
          </a:prstGeom>
          <a:noFill/>
          <a:ln w="25400">
            <a:solidFill>
              <a:srgbClr val="0F7BE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填写计划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新增/编辑本周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工作计划任务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548640" cy="548640"/>
          </a:xfrm>
          <a:prstGeom prst="ellipse">
            <a:avLst/>
          </a:prstGeom>
          <a:solidFill>
            <a:srgbClr val="0F7BE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2004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794760" y="1417320"/>
            <a:ext cx="960120" cy="0"/>
          </a:xfrm>
          <a:prstGeom prst="line">
            <a:avLst/>
          </a:prstGeom>
          <a:noFill/>
          <a:ln w="25400">
            <a:solidFill>
              <a:srgbClr val="0F7BE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60604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完善信息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2377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设置优先级、日期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状态和协同人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188720"/>
            <a:ext cx="548640" cy="548640"/>
          </a:xfrm>
          <a:prstGeom prst="ellipse">
            <a:avLst/>
          </a:prstGeom>
          <a:solidFill>
            <a:srgbClr val="00347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3492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0" y="1417320"/>
            <a:ext cx="960120" cy="0"/>
          </a:xfrm>
          <a:prstGeom prst="line">
            <a:avLst/>
          </a:prstGeom>
          <a:noFill/>
          <a:ln w="25400">
            <a:solidFill>
              <a:srgbClr val="0F7BE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75488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提交计划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2377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点击「提交并锁定」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提交给上级查阅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98080" y="1188720"/>
            <a:ext cx="548640" cy="548640"/>
          </a:xfrm>
          <a:prstGeom prst="ellipse">
            <a:avLst/>
          </a:prstGeom>
          <a:solidFill>
            <a:srgbClr val="00347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49808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0372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上级评价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2377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直属上级查看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并给出评价建议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40080" y="3429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2400E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⚠️ 提交锁定后，三大关键列将被保护：优先级 · 计划完成日期 · 本周重点工作。同时「删除」按钮自动失效，防止误删已提交计划。员工不可修改，需上级解锁后才能编辑。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206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</a:rPr>
              <a:t>快捷操作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· 「回到我的周计划」：快速切换到自己的计划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· 「AI 分析与建议」：AI 辅助分析任务完成情况</a:t>
            </a:r>
            <a:endParaRPr lang="en-US" sz="1400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5BB084B-DDA8-484A-7018-B2D430990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MBO 管理者视角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0233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023360" cy="36576"/>
          </a:xfrm>
          <a:prstGeom prst="rect">
            <a:avLst/>
          </a:prstGeom>
          <a:solidFill>
            <a:srgbClr val="00347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115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下属周计划查阅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顶部下拉选择直属下属或部门成员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自动导航到所选人员当前周计划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只读查看：已锁定列不可编辑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0233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023360" cy="36576"/>
          </a:xfrm>
          <a:prstGeom prst="rect">
            <a:avLst/>
          </a:prstGeom>
          <a:solidFill>
            <a:srgbClr val="1B6EC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800600" y="1143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1115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上级评价与修订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50876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最后一列仅供上级填写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修订模式可临时修改下属计划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员工可见上级评价，不可修改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评价后自动触发积分重新计算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29184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11480" y="3291840"/>
            <a:ext cx="2651760" cy="36576"/>
          </a:xfrm>
          <a:prstGeom prst="rect">
            <a:avLst/>
          </a:prstGeom>
          <a:solidFill>
            <a:srgbClr val="00347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02920" y="3429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查阅下属计划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79476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329184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3246120" y="3291840"/>
            <a:ext cx="2651760" cy="36576"/>
          </a:xfrm>
          <a:prstGeom prst="rect">
            <a:avLst/>
          </a:prstGeom>
          <a:solidFill>
            <a:srgbClr val="00347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337560" y="3429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74904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部门数据汇总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79476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329184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080760" y="3291840"/>
            <a:ext cx="2651760" cy="36576"/>
          </a:xfrm>
          <a:prstGeom prst="rect">
            <a:avLst/>
          </a:prstGeom>
          <a:solidFill>
            <a:srgbClr val="00347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172200" y="3429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8368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填写上级评价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72200" y="379476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416052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11480" y="4160520"/>
            <a:ext cx="2651760" cy="36576"/>
          </a:xfrm>
          <a:prstGeom prst="rect">
            <a:avLst/>
          </a:prstGeom>
          <a:solidFill>
            <a:srgbClr val="1B6EC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02920" y="4297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14400" y="4270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锁定/解锁任务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" y="466344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46120" y="416052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3246120" y="4160520"/>
            <a:ext cx="2651760" cy="36576"/>
          </a:xfrm>
          <a:prstGeom prst="rect">
            <a:avLst/>
          </a:prstGeom>
          <a:solidFill>
            <a:srgbClr val="1B6EC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3337560" y="4297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749040" y="4270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查看任务积分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337560" y="466344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80760" y="416052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080760" y="4160520"/>
            <a:ext cx="2651760" cy="36576"/>
          </a:xfrm>
          <a:prstGeom prst="rect">
            <a:avLst/>
          </a:prstGeom>
          <a:solidFill>
            <a:srgbClr val="1B6EC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172200" y="4297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583680" y="4270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豁免本周计分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172200" y="466344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4E03CD8A-B92B-382F-E02A-2C0B69BE8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操作速查表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0" cy="502920"/>
          </a:xfrm>
          <a:prstGeom prst="rect">
            <a:avLst/>
          </a:prstGeom>
          <a:solidFill>
            <a:srgbClr val="01AFB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645920" cy="502920"/>
          </a:xfrm>
          <a:prstGeom prst="rect">
            <a:avLst/>
          </a:prstGeom>
          <a:solidFill>
            <a:srgbClr val="01AF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快捷键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10058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C4B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Enter 在编辑时保存当前值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645920" cy="502920"/>
          </a:xfrm>
          <a:prstGeom prst="rect">
            <a:avLst/>
          </a:prstGeom>
          <a:solidFill>
            <a:srgbClr val="01AFB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645920" cy="502920"/>
          </a:xfrm>
          <a:prstGeom prst="rect">
            <a:avLst/>
          </a:prstGeom>
          <a:solidFill>
            <a:srgbClr val="01AF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16459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C4B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Cmd+Shift+R 强制刷新获取最新版本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645920" cy="502920"/>
          </a:xfrm>
          <a:prstGeom prst="rect">
            <a:avLst/>
          </a:prstGeom>
          <a:solidFill>
            <a:srgbClr val="01AFB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1645920" cy="502920"/>
          </a:xfrm>
          <a:prstGeom prst="rect">
            <a:avLst/>
          </a:prstGeom>
          <a:solidFill>
            <a:srgbClr val="01AF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2860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C4B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员工档案页底部「导出 Excel / PDF」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1645920" cy="502920"/>
          </a:xfrm>
          <a:prstGeom prst="rect">
            <a:avLst/>
          </a:prstGeom>
          <a:solidFill>
            <a:srgbClr val="01AFB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1645920" cy="502920"/>
          </a:xfrm>
          <a:prstGeom prst="rect">
            <a:avLst/>
          </a:prstGeom>
          <a:solidFill>
            <a:srgbClr val="01AF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周切换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29260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C4B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侧栏选择年份 → 月份 → 周次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1645920" cy="502920"/>
          </a:xfrm>
          <a:prstGeom prst="rect">
            <a:avLst/>
          </a:prstGeom>
          <a:solidFill>
            <a:srgbClr val="01AFB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1645920" cy="502920"/>
          </a:xfrm>
          <a:prstGeom prst="rect">
            <a:avLst/>
          </a:prstGeom>
          <a:solidFill>
            <a:srgbClr val="01AF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回到本周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35661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C4B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进入 MBO 自动定位到当前周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1645920" cy="502920"/>
          </a:xfrm>
          <a:prstGeom prst="rect">
            <a:avLst/>
          </a:prstGeom>
          <a:solidFill>
            <a:srgbClr val="01AFB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1645920" cy="502920"/>
          </a:xfrm>
          <a:prstGeom prst="rect">
            <a:avLst/>
          </a:prstGeom>
          <a:solidFill>
            <a:srgbClr val="01AF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查看下属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286000" y="42062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C4B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顶部下拉选择直属下属或更多下属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更多帮助请联系系统管理员  ·  Tiger Tam</a:t>
            </a:r>
            <a:endParaRPr lang="en-US" sz="1000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C0F325E4-205B-E669-A21E-01452F722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 操作速查表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320040"/>
          </a:xfrm>
          <a:prstGeom prst="roundRect">
            <a:avLst>
              <a:gd name="adj" fmla="val 11429"/>
            </a:avLst>
          </a:prstGeom>
          <a:solidFill>
            <a:srgbClr val="F3FB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快捷键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10058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保存 | Esc 取消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832104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48640" y="13898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刷新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138988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Cmd+Shift+R 强制刷新获取最新版本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773936"/>
            <a:ext cx="8321040" cy="320040"/>
          </a:xfrm>
          <a:prstGeom prst="roundRect">
            <a:avLst>
              <a:gd name="adj" fmla="val 11429"/>
            </a:avLst>
          </a:prstGeom>
          <a:solidFill>
            <a:srgbClr val="F3FB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48640" y="17739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导出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1773936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员工档案页底部「导出 Excel / PDF」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157984"/>
            <a:ext cx="832104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48640" y="21579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周切换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2157984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侧栏选择年份 → 月份 → 周次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542032"/>
            <a:ext cx="8321040" cy="320040"/>
          </a:xfrm>
          <a:prstGeom prst="roundRect">
            <a:avLst>
              <a:gd name="adj" fmla="val 11429"/>
            </a:avLst>
          </a:prstGeom>
          <a:solidFill>
            <a:srgbClr val="F3FB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48640" y="25420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回到本周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254203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进入 MBO 自动定位到当前周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926080"/>
            <a:ext cx="832104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4864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查看下属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292608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顶部下拉选择直属下属或更多下属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310128"/>
            <a:ext cx="8321040" cy="320040"/>
          </a:xfrm>
          <a:prstGeom prst="roundRect">
            <a:avLst>
              <a:gd name="adj" fmla="val 11429"/>
            </a:avLst>
          </a:prstGeom>
          <a:solidFill>
            <a:srgbClr val="F3FB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48640" y="33101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新增任务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331012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点击左下角「+ 新增工作计划」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3694176"/>
            <a:ext cx="832104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548640" y="36941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日期校验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03120" y="3694176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计划日期早于启动日期 → 弹窗警告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更多帮助请联系系统管理员 · Tiger Tam  ·  https://tiger-buddy.com/</a:t>
            </a:r>
            <a:endParaRPr lang="en-US" sz="900" dirty="0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2B60634A-1F18-D85B-C49E-C1E2C21CE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44F6B7B-C06D-9D77-CAEC-D33CE8426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166" y="863600"/>
            <a:ext cx="5384193" cy="39243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0FD7D6E-DACF-B272-3142-ADDB1C82C43C}"/>
              </a:ext>
            </a:extLst>
          </p:cNvPr>
          <p:cNvSpPr/>
          <p:nvPr/>
        </p:nvSpPr>
        <p:spPr>
          <a:xfrm>
            <a:off x="5486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r>
              <a:rPr lang="en-US" altLang="zh-CN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</a:t>
            </a:r>
            <a:r>
              <a:rPr lang="en-US" sz="2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后续开发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6411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4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26EB95C-79BF-BF8C-B1F5-BE133D3BC946}"/>
              </a:ext>
            </a:extLst>
          </p:cNvPr>
          <p:cNvSpPr/>
          <p:nvPr/>
        </p:nvSpPr>
        <p:spPr>
          <a:xfrm>
            <a:off x="0" y="685539"/>
            <a:ext cx="9144000" cy="4457962"/>
          </a:xfrm>
          <a:prstGeom prst="rect">
            <a:avLst/>
          </a:prstGeom>
          <a:solidFill>
            <a:srgbClr val="1380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ext 0"/>
          <p:cNvSpPr/>
          <p:nvPr/>
        </p:nvSpPr>
        <p:spPr>
          <a:xfrm>
            <a:off x="0" y="16459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400" b="1" kern="0" spc="1200" dirty="0">
                <a:solidFill>
                  <a:srgbClr val="FFFFFF"/>
                </a:solidFill>
                <a:latin typeface="Georgia" pitchFamily="34" charset="0"/>
              </a:rPr>
              <a:t>Q&amp;A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200400" y="2834640"/>
            <a:ext cx="2743200" cy="22860"/>
          </a:xfrm>
          <a:prstGeom prst="rect">
            <a:avLst/>
          </a:prstGeom>
          <a:solidFill>
            <a:srgbClr val="FFCF6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0" y="38303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HWM-HR 信息管理系统  ·  V0.6.1bh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如有问题，请联系管理员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https://tiger-buddy.com/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1C0D0FA-A994-13CF-FC86-4B0C620CF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0" y="398780"/>
            <a:ext cx="1534160" cy="2867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1699</Words>
  <Application>Microsoft Macintosh PowerPoint</Application>
  <PresentationFormat>全屏显示(16:9)</PresentationFormat>
  <Paragraphs>534</Paragraphs>
  <Slides>29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等线</vt:lpstr>
      <vt:lpstr>STSong</vt:lpstr>
      <vt:lpstr>Microsoft YaHei</vt:lpstr>
      <vt:lpstr>Arial</vt:lpstr>
      <vt:lpstr>Arial Black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HWM-HR 信息管理系统 使用手册</dc:title>
  <dc:subject>PptxGenJS Presentation</dc:subject>
  <dc:creator>HWM HR</dc:creator>
  <cp:lastModifiedBy>Tigertam</cp:lastModifiedBy>
  <cp:revision>52</cp:revision>
  <dcterms:created xsi:type="dcterms:W3CDTF">2026-07-07T15:01:56Z</dcterms:created>
  <dcterms:modified xsi:type="dcterms:W3CDTF">2026-07-10T06:07:19Z</dcterms:modified>
</cp:coreProperties>
</file>